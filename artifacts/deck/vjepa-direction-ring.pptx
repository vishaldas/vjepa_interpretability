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sentences to set the hook. We already know video world models learn physics. The open question is how they ORGANISE it — because that decides whether we can control them.</a:t>
            </a:r>
          </a:p>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Direction is decodable at 11.4 degrees from LAYER 1 — one attention block. The paper reports it emerging only at a sharp mid-depth transition. Here there is no step, just a steep rise and a glide.</a:t>
            </a:r>
          </a:p>
          <a:p/>
          <a:p>
            <a:r>
              <a:t>The obvious objection is that the probe reads POSITION, not direction. It does not: the frame-0 centroid alone scores 86.3 degrees against a chance of 90. So this is real, and most likely a dataset-simplicity effect — one high-contrast disk on an empty field.</a:t>
            </a:r>
          </a:p>
          <a:p/>
          <a:p>
            <a:r>
              <a:t>Two things to flag while this is up. The tracker oracle beats every encoder probe, so V-JEPA loses roughly half the recoverable signal. And pooling moves the apparent best layer by up to six layers, so a single-pooling curve would confound emergence with pooling dilution.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Removing the probe subspace drives direction from R-squared 0.99 to 0.01; removing the same number of random directions does nothing. THAT contrast is the finding — all three variables are carried by a highly redundant population code.</a:t>
            </a:r>
          </a:p>
          <a:p/>
          <a:p>
            <a:r>
              <a:t>NOW THE CAREFUL PART, and volunteer it before anyone asks. Each INLP round removes one probe's readout subspace, and that subspace's rank is set by the TARGET, not by the representation: two dimensions for direction's sin-cos pair, one for a scalar. So direction spends dimensions twice as fast per round as pure bookkeeping.</a:t>
            </a:r>
          </a:p>
          <a:p/>
          <a:p>
            <a:r>
              <a:t>Counted in ROUNDS — independent readouts extractable before the signal dies — the three are essentially equal: 71, 69, 67.</a:t>
            </a:r>
          </a:p>
          <a:p/>
          <a:p>
            <a:r>
              <a:t>The decisive control is the right panel. Give direction a ONE-dimensional target on the same activations: sin theta alone costs 76 dimensions, cos theta alone 54 — squarely in the scalars' range of 67 to 69. The 142 is just 71 rounds times two.</a:t>
            </a:r>
          </a:p>
          <a:p/>
          <a:p>
            <a:r>
              <a:t>So do NOT say direction is twice as redundant. Say: all three are equally redundant, and direction's readout is inherently two-dimensional, which is why controlling it costs twice the dimensions per readout. That framing sets up slide 5 exactly — a single probe cannot steer a two-dimensional readout.</a:t>
            </a:r>
          </a:p>
          <a:p/>
          <a:p>
            <a:r>
              <a:t>One real asymmetry does survive, at the tail rather than the midpoint: reaching 10 percent of the original R-squared takes 133 rounds for direction against 114 and 103 for the scalars. About 1.2 times, not 2. Direction's signal persists a little longer into the low-signal regime.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principal component is almost purely one harmonic. PC1-2 are cos and sin of theta; PC3 is two theta; PC4 is four theta. The ladder is 1, 2, 4 — m=3 sits at the noise floor.</a:t>
            </a:r>
          </a:p>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steering experiment, and the evaluation protocol is the part worth spelling out.</a:t>
            </a:r>
          </a:p>
          <a:p/>
          <a:p>
            <a:r>
              <a:t>THREE INDEPENDENT HELD-OUT AXES. The evaluation probe is never one of the K that built the steering subspace, and it is fitted on clips disjoint from all of them. The clips being steered carry target values never seen during fitting. Without the probe split, 'steering worked' would only mean the intervention satisfied the very equations it solved.</a:t>
            </a:r>
          </a:p>
          <a:p/>
          <a:p>
            <a:r>
              <a:t>LEFT PANEL, the result. A single probe closes 28 percent of the floor-to-ceiling gap for direction but 74 percent for either scalar. Direction needs K of at least two and is essentially solved by K around four. That is the causal counterpart of slide 3: a 2-dimensional readout cannot be driven along a single direction.</a:t>
            </a:r>
          </a:p>
          <a:p/>
          <a:p>
            <a:r>
              <a:t>MIDDLE AND RIGHT, the cost. To build a subspace big enough to steer the ring you capture other kinematics with it. By dimension 16 every cell in the matrix leaks. Dimension 4 to 8 is the usable operating point.</a:t>
            </a:r>
          </a:p>
          <a:p/>
          <a:p>
            <a:r>
              <a:t>TWO CELLS ARE BLANK, and that is a finding about the data. Speed and acceleration are mutually exclusive in every supplied dataset — no clip has both non-zero — so the coupling v = v0 + a t that would make that leakage interesting has been designed out of the stimulus set.</a:t>
            </a:r>
          </a:p>
          <a:p/>
          <a:p>
            <a:r>
              <a:t>If asked what the intervention actually solves: minimise the L2 norm of delta-x subject to the probes reading the target. That is the Moore-Penrose minimum-norm edit, verified against a direct pseudo-inverse to three times ten to the minus fourteen. Smallest EUCLIDEAN step — which is exactly the setup for Act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Wurgaft et al. warn that Euclidean steering goes off-manifold. Our data says that is NECESSARY BUT NOT SUFFICIENT.</a:t>
            </a:r>
          </a:p>
          <a:p/>
          <a:p>
            <a:r>
              <a:t>The tempting explanation — direction is more curved — does not survive measurement. Speed's manifold is curved too, 4.68 against 6.59, and both chords sit 80 to 120 times off manifold in every pair we tested. Yet the behavioural penalty appears only for direction.</a:t>
            </a:r>
          </a:p>
          <a:p/>
          <a:p>
            <a:r>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might expect the centre of the ring to be the stationary state: left plus right equals nothing. IT IS NOT. Speed survives completely, and so does the axis of motion. Only the direction bit is removed.</a:t>
            </a:r>
          </a:p>
          <a:p/>
          <a:p>
            <a:r>
              <a:t>So the model is holding: an object moving along this specific line, at 2.1 metres per second, with no fact about which of the two ways it is going. No clip in the dataset can be in that state.</a:t>
            </a:r>
          </a:p>
          <a:p/>
          <a:p>
            <a:r>
              <a:t>And it falls straight out of slide 4. m=1 is anti-symmetric under a 180-degree flip, so the two endpoints cancel exactly at the midpoint. m=2 is invariant, so the axis rides through untouched. That is also why the collapse bottoms out precisely at t = 0.5.</a:t>
            </a:r>
          </a:p>
          <a:p/>
          <a:p>
            <a:r>
              <a:t>This is the concrete version of 'unnatural output': not noise, but a structured, physically impossible state.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candidates. LAYERNORM IS NOT THE ANSWER — token norms and channel standard deviations sit within half a percent of the control, and only 0.6% of the edit lies along the all-ones direction that LayerNorm deletes.</a:t>
            </a:r>
          </a:p>
          <a:p/>
          <a:p>
            <a:r>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p>
            <a:r>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 a periodic cubic spline through the per-value centroids and steer ALONG the curve. At the layer of the intervention this method is WORSE — 7.02 degrees against 5.32. Four blocks later the ordering flips hard.</a:t>
            </a:r>
          </a:p>
          <a:p/>
          <a:p>
            <a:r>
              <a:t>The reason is visible in the numbers. Multi-probe steering solves for probe readouts and OVERSHOOTS to do it — alignment 1.33, well past the unit norm of a natural representation. That excess is exactly what attention discards. The spline edit lands at 1.03 and is kept.</a:t>
            </a:r>
          </a:p>
          <a:p/>
          <a:p>
            <a:r>
              <a:t>Most telling: the spline puts LESS of itself in the readout subspace at injection, 0.09 against 0.32, yet survives far better. It is not pushing harder along the probe direction — it is moving the representation the way the network's own geometry moves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parallel to LLM interpretability, and it is worth saying where it comes from. Anthropic's Scaling Monosemanticity work — Templeton and colleagues, 2024 — steers Claude 3 Sonnet by CLAMPING a sparse-autoencoder feature's activation during the forward pass, typically to something like ten times its maximum observed value. Golden Gate Claude is that technique.</a:t>
            </a:r>
          </a:p>
          <a:p/>
          <a:p>
            <a:r>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p>
            <a:r>
              <a:t>THE RESULT: IT WORKS. At four blocks downstream, clamping more than doubles the retained effect over a one-shot edit — 0.79 against 0.36. Continuous feature clamping transfers from language models to a video world model without modification.</a:t>
            </a:r>
          </a:p>
          <a:p/>
          <a:p>
            <a:r>
              <a:t>TWO CAVEATS worth having ready.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p>
            <a:r>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p>
            <a:r>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pull this up if someone asks whether the off-manifold state is a noisy variant of a real one.</a:t>
            </a:r>
          </a:p>
          <a:p/>
          <a:p>
            <a:r>
              <a:t>THREE TESTS, AND THE INTUITIVE ONE FAILS.</a:t>
            </a:r>
          </a:p>
          <a:p/>
          <a:p>
            <a:r>
              <a:t>Test 1, the bootstrap tube: the chord sits 2.4 times outside the 95% tube at its worst point, and 51% of its length is outside. Real, but weaker than it sounds — the tube is about 38% of the ring radius, so 1,148 clips do not pin the manifold that tightly.</a:t>
            </a:r>
          </a:p>
          <a:p/>
          <a:p>
            <a:r>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p>
            <a:r>
              <a:t>Test 3, the radial shell, is decisive. In 64 dimensions the data occupies a shell, not a ball. Real clips sit at radius 15.8 minimum, 23.7 median. The midpoint sits at 5.1. ZERO of 1,148 clips are that close to the centre — z-score minus 4.1, and 0.32 times the radius of the closest real clip.</a:t>
            </a:r>
          </a:p>
          <a:p/>
          <a:p>
            <a:r>
              <a:t>So: the midpoint occupies a region no training clip occupies. Lead with 0-of-1148, not the tube.</a:t>
            </a:r>
          </a:p>
          <a:p/>
          <a:p>
            <a:r>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2"/>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Layer-wise linear probes on held-out direction values. Chance is 90°. The dotted line is what a perfect pixel tracker achieves on the same clips.</a:t>
            </a:r>
          </a:p>
        </p:txBody>
      </p:sp>
      <p:pic>
        <p:nvPicPr>
          <p:cNvPr id="7" name="Picture 6" descr="layer_sweep_direction.png"/>
          <p:cNvPicPr>
            <a:picLocks noChangeAspect="1"/>
          </p:cNvPicPr>
          <p:nvPr/>
        </p:nvPicPr>
        <p:blipFill>
          <a:blip r:embed="rId2"/>
          <a:stretch>
            <a:fillRect/>
          </a:stretch>
        </p:blipFill>
        <p:spPr>
          <a:xfrm>
            <a:off x="3054614" y="2633472"/>
            <a:ext cx="6082467"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BEST, LAYER 16</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2.57°</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leak-free salience pooling</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1.19°</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the encoder sits ~2× off it</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a:solidFill>
                  <a:srgbClr val="17191C"/>
                </a:solidFill>
                <a:latin typeface="Futura"/>
              </a:rPr>
              <a:t>Everything is redundant — direction just reads wider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PROBE-DIRECTED REMOVAL</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a:solidFill>
                  <a:srgbClr val="B03A2E"/>
                </a:solidFill>
                <a:latin typeface="Menlo"/>
              </a:rPr>
              <a:t>0.99 → 0.01</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the signal is destroyed</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RANDOM REMOVAL, SAME N</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a:solidFill>
                  <a:srgbClr val="0B4F6C"/>
                </a:solidFill>
                <a:latin typeface="Menlo"/>
              </a:rPr>
              <a:t>0.99 → 0.99</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flat — the control</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INDEPENDENT READOUTS</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a:solidFill>
                  <a:srgbClr val="1E7A4E"/>
                </a:solidFill>
                <a:latin typeface="Menlo"/>
              </a:rPr>
              <a:t>71 / 69 / 67</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dir / speed / accel — equal</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DIMENSIONS TO HALVE</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a:solidFill>
                  <a:srgbClr val="71757B"/>
                </a:solidFill>
                <a:latin typeface="Menlo"/>
              </a:rPr>
              <a:t>142 / 69 / 67</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2× is readout rank, not redundancy</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03</a:t>
            </a:r>
          </a:p>
        </p:txBody>
      </p:sp>
      <p:pic>
        <p:nvPicPr>
          <p:cNvPr id="26" name="Picture 25" descr="nullspace_combined.png"/>
          <p:cNvPicPr>
            <a:picLocks noChangeAspect="1"/>
          </p:cNvPicPr>
          <p:nvPr/>
        </p:nvPicPr>
        <p:blipFill>
          <a:blip r:embed="rId4"/>
          <a:stretch>
            <a:fillRect/>
          </a:stretch>
        </p:blipFill>
        <p:spPr>
          <a:xfrm>
            <a:off x="2952152" y="2877007"/>
            <a:ext cx="6287389" cy="221041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2"/>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F8  ·  F8b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a:solidFill>
                  <a:srgbClr val="17191C"/>
                </a:solidFill>
                <a:latin typeface="Futura"/>
              </a:rPr>
              <a:t>Steering direction needs a coordinated subspace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a:solidFill>
                  <a:srgbClr val="71757B"/>
                </a:solidFill>
                <a:latin typeface="Avenir Next"/>
              </a:rPr>
              <a:t>Stack K probe readouts, solve for the coordinates that make them all read the target. Evaluated with a HELD-OUT probe — never one of the K that built the basis — on held-out label values.</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DIRECTION, K = 1</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a:solidFill>
                  <a:srgbClr val="B03A2E"/>
                </a:solidFill>
                <a:latin typeface="Menlo"/>
              </a:rPr>
              <a:t>28%</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of the gap closed — barely works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DIRECTION, K = 4</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a:solidFill>
                  <a:srgbClr val="1E7A4E"/>
                </a:solidFill>
                <a:latin typeface="Menlo"/>
              </a:rPr>
              <a:t>97%</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a coordinated subspace works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EITHER SCALAR, K = 1</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a:solidFill>
                  <a:srgbClr val="0B4F6C"/>
                </a:solidFill>
                <a:latin typeface="Menlo"/>
              </a:rPr>
              <a:t>74%</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one probe is enough</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LEAKAGE AT DIM 16</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a:solidFill>
                  <a:srgbClr val="B03A2E"/>
                </a:solidFill>
                <a:latin typeface="Menlo"/>
              </a:rPr>
              <a:t>every cell</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specificity is gone</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05</a:t>
            </a:r>
          </a:p>
        </p:txBody>
      </p:sp>
      <p:pic>
        <p:nvPicPr>
          <p:cNvPr id="26" name="Picture 25" descr="steering_combined.png"/>
          <p:cNvPicPr>
            <a:picLocks noChangeAspect="1"/>
          </p:cNvPicPr>
          <p:nvPr/>
        </p:nvPicPr>
        <p:blipFill>
          <a:blip r:embed="rId4"/>
          <a:stretch>
            <a:fillRect/>
          </a:stretch>
        </p:blipFill>
        <p:spPr>
          <a:xfrm>
            <a:off x="2878277" y="3042013"/>
            <a:ext cx="6435139" cy="188039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F11  ·  F12</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2"/>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F12b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Reading three probes at the midpoint of the linear direction chord. Run on the clips where theta and speed are decorrelated, so the speed probe is clean.</a:t>
            </a:r>
          </a:p>
        </p:txBody>
      </p:sp>
      <p:pic>
        <p:nvPicPr>
          <p:cNvPr id="7" name="Picture 6" descr="ghost_state.png"/>
          <p:cNvPicPr>
            <a:picLocks noChangeAspect="1"/>
          </p:cNvPicPr>
          <p:nvPr/>
        </p:nvPicPr>
        <p:blipFill>
          <a:blip r:embed="rId2"/>
          <a:stretch>
            <a:fillRect/>
          </a:stretch>
        </p:blipFill>
        <p:spPr>
          <a:xfrm>
            <a:off x="3730046" y="2633472"/>
            <a:ext cx="4731602"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SPEED</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2.10 → 2.17 m/s</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untouched across the path</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DIRECTION, M = 1</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certainty 0.18</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annihilated — chance is 0</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2"/>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F15  ·  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The on-manifold edit survives 3× better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Both methods steered to the same held-out targets, injected at layer 16, propagated through the same blocks, scored by alignment with the intended readout.</a:t>
            </a:r>
          </a:p>
        </p:txBody>
      </p:sp>
      <p:pic>
        <p:nvPicPr>
          <p:cNvPr id="7" name="Picture 6" descr="d9_retention.png"/>
          <p:cNvPicPr>
            <a:picLocks noChangeAspect="1"/>
          </p:cNvPicPr>
          <p:nvPr/>
        </p:nvPicPr>
        <p:blipFill>
          <a:blip r:embed="rId2"/>
          <a:stretch>
            <a:fillRect/>
          </a:stretch>
        </p:blipFill>
        <p:spPr>
          <a:xfrm>
            <a:off x="2349347" y="2633472"/>
            <a:ext cx="749300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MULTI-PROBE</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25% retained</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alignment +1.33 → +0.33</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MANIFOLD SPLINE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76% retained</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alignment +1.03 → +0.78</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IN FEATURE SPACE</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multi-probe wins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5.32° vs 7.02°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FOUR BLOCKS LATER</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manifold wins</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the ordering flips</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2"/>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F8  ·  F12  ·  F15</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gridCol w="4020159"/>
                <a:gridCol w="4020159"/>
              </a:tblGrid>
              <a:tr h="391885">
                <a:tc>
                  <a:txBody>
                    <a:bodyPr wrap="square"/>
                    <a:lstStyle/>
                    <a:p>
                      <a:r>
                        <a:rPr sz="850" b="0" i="0" spc="120">
                          <a:solidFill>
                            <a:srgbClr val="71757B"/>
                          </a:solidFill>
                          <a:latin typeface="Menlo"/>
                        </a:rPr>
                        <a:t/>
                      </a:r>
                    </a:p>
                  </a:txBody>
                  <a:tcPr marL="128016" marT="54864" marB="54864" anchor="ctr">
                    <a:solidFill>
                      <a:srgbClr val="FFFFFF"/>
                    </a:solidFill>
                  </a:tcPr>
                </a:tc>
                <a:tc>
                  <a:txBody>
                    <a:bodyPr wrap="square"/>
                    <a:lstStyle/>
                    <a:p>
                      <a:r>
                        <a:rPr sz="850" b="0" i="0" spc="120">
                          <a:solidFill>
                            <a:srgbClr val="71757B"/>
                          </a:solidFill>
                          <a:latin typeface="Menlo"/>
                        </a:rPr>
                        <a:t>MULTI-PROBE SUBSPACE</a:t>
                      </a:r>
                    </a:p>
                  </a:txBody>
                  <a:tcPr marL="128016" marT="54864" marB="54864" anchor="ctr">
                    <a:solidFill>
                      <a:srgbClr val="FFFFFF"/>
                    </a:solidFill>
                  </a:tcPr>
                </a:tc>
                <a:tc>
                  <a:txBody>
                    <a:bodyPr wrap="square"/>
                    <a:lstStyle/>
                    <a:p>
                      <a:r>
                        <a:rPr sz="850" b="0" i="0" spc="120">
                          <a:solidFill>
                            <a:srgbClr val="71757B"/>
                          </a:solidFill>
                          <a:latin typeface="Menlo"/>
                        </a:rPr>
                        <a:t>SPLINE / MANIFOLD</a:t>
                      </a:r>
                    </a:p>
                  </a:txBody>
                  <a:tcPr marL="128016" marT="54864" marB="54864" anchor="ctr">
                    <a:solidFill>
                      <a:srgbClr val="FFFFFF"/>
                    </a:solidFill>
                  </a:tcPr>
                </a:tc>
              </a:tr>
              <a:tr h="391885">
                <a:tc>
                  <a:txBody>
                    <a:bodyPr wrap="square"/>
                    <a:lstStyle/>
                    <a:p>
                      <a:r>
                        <a:rPr sz="1050" b="1" i="0">
                          <a:solidFill>
                            <a:srgbClr val="17191C"/>
                          </a:solidFill>
                          <a:latin typeface="Avenir Next"/>
                        </a:rPr>
                        <a:t>endpoint accuracy</a:t>
                      </a:r>
                    </a:p>
                  </a:txBody>
                  <a:tcPr marL="128016" marT="54864" marB="54864" anchor="ctr">
                    <a:solidFill>
                      <a:srgbClr val="FFFFFF"/>
                    </a:solidFill>
                  </a:tcPr>
                </a:tc>
                <a:tc>
                  <a:txBody>
                    <a:bodyPr wrap="square"/>
                    <a:lstStyle/>
                    <a:p>
                      <a:r>
                        <a:rPr sz="1050" b="0" i="0">
                          <a:solidFill>
                            <a:srgbClr val="1E7A4E"/>
                          </a:solidFill>
                          <a:latin typeface="Avenir Next"/>
                        </a:rPr>
                        <a:t>better — 5.32°</a:t>
                      </a:r>
                    </a:p>
                  </a:txBody>
                  <a:tcPr marL="128016" marT="54864" marB="54864" anchor="ctr">
                    <a:solidFill>
                      <a:srgbClr val="FFFFFF"/>
                    </a:solidFill>
                  </a:tcPr>
                </a:tc>
                <a:tc>
                  <a:txBody>
                    <a:bodyPr wrap="square"/>
                    <a:lstStyle/>
                    <a:p>
                      <a:r>
                        <a:rPr sz="1050" b="0" i="0">
                          <a:solidFill>
                            <a:srgbClr val="71757B"/>
                          </a:solidFill>
                          <a:latin typeface="Avenir Next"/>
                        </a:rPr>
                        <a:t>7.02°</a:t>
                      </a:r>
                    </a:p>
                  </a:txBody>
                  <a:tcPr marL="128016" marT="54864" marB="54864" anchor="ctr">
                    <a:solidFill>
                      <a:srgbClr val="FFFFFF"/>
                    </a:solidFill>
                  </a:tcPr>
                </a:tc>
              </a:tr>
              <a:tr h="391885">
                <a:tc>
                  <a:txBody>
                    <a:bodyPr wrap="square"/>
                    <a:lstStyle/>
                    <a:p>
                      <a:r>
                        <a:rPr sz="1050" b="1" i="0">
                          <a:solidFill>
                            <a:srgbClr val="17191C"/>
                          </a:solidFill>
                          <a:latin typeface="Avenir Next"/>
                        </a:rPr>
                        <a:t>survives propagation</a:t>
                      </a:r>
                    </a:p>
                  </a:txBody>
                  <a:tcPr marL="128016" marT="54864" marB="54864" anchor="ctr">
                    <a:solidFill>
                      <a:srgbClr val="FFFFFF"/>
                    </a:solidFill>
                  </a:tcPr>
                </a:tc>
                <a:tc>
                  <a:txBody>
                    <a:bodyPr wrap="square"/>
                    <a:lstStyle/>
                    <a:p>
                      <a:r>
                        <a:rPr sz="1050" b="0" i="0">
                          <a:solidFill>
                            <a:srgbClr val="B03A2E"/>
                          </a:solidFill>
                          <a:latin typeface="Avenir Next"/>
                        </a:rPr>
                        <a:t>25% at four blocks</a:t>
                      </a:r>
                    </a:p>
                  </a:txBody>
                  <a:tcPr marL="128016" marT="54864" marB="54864" anchor="ctr">
                    <a:solidFill>
                      <a:srgbClr val="FFFFFF"/>
                    </a:solidFill>
                  </a:tcPr>
                </a:tc>
                <a:tc>
                  <a:txBody>
                    <a:bodyPr wrap="square"/>
                    <a:lstStyle/>
                    <a:p>
                      <a:r>
                        <a:rPr sz="1050" b="0" i="0">
                          <a:solidFill>
                            <a:srgbClr val="1E7A4E"/>
                          </a:solidFill>
                          <a:latin typeface="Avenir Next"/>
                        </a:rPr>
                        <a:t>76%</a:t>
                      </a:r>
                    </a:p>
                  </a:txBody>
                  <a:tcPr marL="128016" marT="54864" marB="54864" anchor="ctr">
                    <a:solidFill>
                      <a:srgbClr val="FFFFFF"/>
                    </a:solidFill>
                  </a:tcPr>
                </a:tc>
              </a:tr>
              <a:tr h="391885">
                <a:tc>
                  <a:txBody>
                    <a:bodyPr wrap="square"/>
                    <a:lstStyle/>
                    <a:p>
                      <a:r>
                        <a:rPr sz="1050" b="1" i="0">
                          <a:solidFill>
                            <a:srgbClr val="17191C"/>
                          </a:solidFill>
                          <a:latin typeface="Avenir Next"/>
                        </a:rPr>
                        <a:t>intermediate states</a:t>
                      </a:r>
                    </a:p>
                  </a:txBody>
                  <a:tcPr marL="128016" marT="54864" marB="54864" anchor="ctr">
                    <a:solidFill>
                      <a:srgbClr val="FFFFFF"/>
                    </a:solidFill>
                  </a:tcPr>
                </a:tc>
                <a:tc>
                  <a:txBody>
                    <a:bodyPr wrap="square"/>
                    <a:lstStyle/>
                    <a:p>
                      <a:r>
                        <a:rPr sz="1050" b="0" i="0">
                          <a:solidFill>
                            <a:srgbClr val="B03A2E"/>
                          </a:solidFill>
                          <a:latin typeface="Avenir Next"/>
                        </a:rPr>
                        <a:t>collapse on closed geometry</a:t>
                      </a:r>
                    </a:p>
                  </a:txBody>
                  <a:tcPr marL="128016" marT="54864" marB="54864" anchor="ctr">
                    <a:solidFill>
                      <a:srgbClr val="FFFFFF"/>
                    </a:solidFill>
                  </a:tcPr>
                </a:tc>
                <a:tc>
                  <a:txBody>
                    <a:bodyPr wrap="square"/>
                    <a:lstStyle/>
                    <a:p>
                      <a:r>
                        <a:rPr sz="1050" b="0" i="0">
                          <a:solidFill>
                            <a:srgbClr val="1E7A4E"/>
                          </a:solidFill>
                          <a:latin typeface="Avenir Next"/>
                        </a:rPr>
                        <a:t>stay valid</a:t>
                      </a:r>
                    </a:p>
                  </a:txBody>
                  <a:tcPr marL="128016" marT="54864" marB="54864" anchor="ctr">
                    <a:solidFill>
                      <a:srgbClr val="FFFFFF"/>
                    </a:solidFill>
                  </a:tcPr>
                </a:tc>
              </a:tr>
              <a:tr h="391885">
                <a:tc>
                  <a:txBody>
                    <a:bodyPr wrap="square"/>
                    <a:lstStyle/>
                    <a:p>
                      <a:r>
                        <a:rPr sz="1050" b="1" i="0">
                          <a:solidFill>
                            <a:srgbClr val="17191C"/>
                          </a:solidFill>
                          <a:latin typeface="Avenir Next"/>
                        </a:rPr>
                        <a:t>what it needs</a:t>
                      </a:r>
                    </a:p>
                  </a:txBody>
                  <a:tcPr marL="128016" marT="54864" marB="54864" anchor="ctr">
                    <a:solidFill>
                      <a:srgbClr val="FFFFFF"/>
                    </a:solidFill>
                  </a:tcPr>
                </a:tc>
                <a:tc>
                  <a:txBody>
                    <a:bodyPr wrap="square"/>
                    <a:lstStyle/>
                    <a:p>
                      <a:r>
                        <a:rPr sz="1050" b="0" i="0">
                          <a:solidFill>
                            <a:srgbClr val="71757B"/>
                          </a:solidFill>
                          <a:latin typeface="Avenir Next"/>
                        </a:rPr>
                        <a:t>K fitted probes</a:t>
                      </a:r>
                    </a:p>
                  </a:txBody>
                  <a:tcPr marL="128016" marT="54864" marB="54864" anchor="ctr">
                    <a:solidFill>
                      <a:srgbClr val="FFFFFF"/>
                    </a:solidFill>
                  </a:tcPr>
                </a:tc>
                <a:tc>
                  <a:txBody>
                    <a:bodyPr wrap="square"/>
                    <a:lstStyle/>
                    <a:p>
                      <a:r>
                        <a:rPr sz="1050" b="0" i="0">
                          <a:solidFill>
                            <a:srgbClr val="71757B"/>
                          </a:solidFill>
                          <a:latin typeface="Avenir Next"/>
                        </a:rPr>
                        <a:t>per-value centroids only</a:t>
                      </a:r>
                    </a:p>
                  </a:txBody>
                  <a:tcPr marL="128016" marT="54864" marB="54864" anchor="ctr">
                    <a:solidFill>
                      <a:srgbClr val="FFFFFF"/>
                    </a:solidFill>
                  </a:tcPr>
                </a:tc>
              </a:tr>
              <a:tr h="391885">
                <a:tc>
                  <a:txBody>
                    <a:bodyPr wrap="square"/>
                    <a:lstStyle/>
                    <a:p>
                      <a:r>
                        <a:rPr sz="1050" b="1" i="0">
                          <a:solidFill>
                            <a:srgbClr val="17191C"/>
                          </a:solidFill>
                          <a:latin typeface="Avenir Next"/>
                        </a:rPr>
                        <a:t>best for</a:t>
                      </a:r>
                    </a:p>
                  </a:txBody>
                  <a:tcPr marL="128016" marT="54864" marB="54864" anchor="ctr">
                    <a:solidFill>
                      <a:srgbClr val="FFFFFF"/>
                    </a:solidFill>
                  </a:tcPr>
                </a:tc>
                <a:tc>
                  <a:txBody>
                    <a:bodyPr wrap="square"/>
                    <a:lstStyle/>
                    <a:p>
                      <a:r>
                        <a:rPr sz="1050" b="0" i="0">
                          <a:solidFill>
                            <a:srgbClr val="71757B"/>
                          </a:solidFill>
                          <a:latin typeface="Avenir Next"/>
                        </a:rPr>
                        <a:t>monotone scalars</a:t>
                      </a:r>
                    </a:p>
                  </a:txBody>
                  <a:tcPr marL="128016" marT="54864" marB="54864" anchor="ctr">
                    <a:solidFill>
                      <a:srgbClr val="FFFFFF"/>
                    </a:solidFill>
                  </a:tcPr>
                </a:tc>
                <a:tc>
                  <a:txBody>
                    <a:bodyPr wrap="square"/>
                    <a:lstStyle/>
                    <a:p>
                      <a:r>
                        <a:rPr sz="1050" b="0" i="0">
                          <a:solidFill>
                            <a:srgbClr val="71757B"/>
                          </a:solidFill>
                          <a:latin typeface="Avenir Next"/>
                        </a:rPr>
                        <a:t>cyclic variables</a:t>
                      </a:r>
                    </a:p>
                  </a:txBody>
                  <a:tcPr marL="128016" marT="54864" marB="54864" anchor="ctr">
                    <a:solidFill>
                      <a:srgbClr val="FFFFFF"/>
                    </a:solidFill>
                  </a:tcPr>
                </a:tc>
              </a:tr>
              <a:tr h="391885">
                <a:tc>
                  <a:txBody>
                    <a:bodyPr wrap="square"/>
                    <a:lstStyle/>
                    <a:p>
                      <a:r>
                        <a:rPr sz="1050" b="1" i="0">
                          <a:solidFill>
                            <a:srgbClr val="17191C"/>
                          </a:solidFill>
                          <a:latin typeface="Avenir Next"/>
                        </a:rPr>
                        <a:t>main failure</a:t>
                      </a:r>
                    </a:p>
                  </a:txBody>
                  <a:tcPr marL="128016" marT="54864" marB="54864" anchor="ctr">
                    <a:solidFill>
                      <a:srgbClr val="FFFFFF"/>
                    </a:solidFill>
                  </a:tcPr>
                </a:tc>
                <a:tc>
                  <a:txBody>
                    <a:bodyPr wrap="square"/>
                    <a:lstStyle/>
                    <a:p>
                      <a:r>
                        <a:rPr sz="1050" b="0" i="0">
                          <a:solidFill>
                            <a:srgbClr val="B03A2E"/>
                          </a:solidFill>
                          <a:latin typeface="Avenir Next"/>
                        </a:rPr>
                        <a:t>minimises the wrong norm</a:t>
                      </a:r>
                    </a:p>
                  </a:txBody>
                  <a:tcPr marL="128016" marT="54864" marB="54864" anchor="ctr">
                    <a:solidFill>
                      <a:srgbClr val="FFFFFF"/>
                    </a:solidFill>
                  </a:tcPr>
                </a:tc>
                <a:tc>
                  <a:txBody>
                    <a:bodyPr wrap="square"/>
                    <a:lstStyle/>
                    <a:p>
                      <a:r>
                        <a:rPr sz="1050" b="0" i="0">
                          <a:solidFill>
                            <a:srgbClr val="71757B"/>
                          </a:solidFill>
                          <a:latin typeface="Avenir Next"/>
                        </a:rPr>
                        <a:t>undershoots the target</a:t>
                      </a:r>
                    </a:p>
                  </a:txBody>
                  <a:tcPr marL="128016" marT="54864" marB="54864" anchor="ctr">
                    <a:solidFill>
                      <a:srgbClr val="FFFFFF"/>
                    </a:solidFill>
                  </a:tcPr>
                </a:tc>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2"/>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