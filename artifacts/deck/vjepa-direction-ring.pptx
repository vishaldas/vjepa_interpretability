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045"/>
  </p:normalViewPr>
  <p:slideViewPr>
    <p:cSldViewPr snapToGrid="0" snapToObjects="1">
      <p:cViewPr varScale="1">
        <p:scale>
          <a:sx n="124" d="100"/>
          <a:sy n="124" d="100"/>
        </p:scale>
        <p:origin x="640" y="168"/>
      </p:cViewPr>
      <p:guideLst>
        <p:guide orient="horz" pos="2160"/>
        <p:guide pos="2880"/>
      </p:guideLst>
    </p:cSldViewPr>
  </p:slideViewPr>
  <p:notesTextViewPr>
    <p:cViewPr>
      <p:scale>
        <a:sx n="100" d="100"/>
        <a:sy n="100" d="100"/>
      </p:scale>
      <p:origin x="0" y="-67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66607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sentences to set the hook. We already know video world models learn physics. The open question is how they ORGANISE it — because that decides whether we can control them.</a:t>
            </a:r>
          </a:p>
          <a:p>
            <a:endParaRPr/>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Layer-wise probing for all three variables. Chance for direction is 90 degrees.</a:t>
            </a:r>
          </a:p>
          <a:p/>
          <a:p>
            <a:r>
              <a:t>THE HEADLINE. Everything is readable after ONE attention block. Direction goes from 66.9 degrees at layer 0 to 11.4 at layer 1; speed from 0.82 to 0.10; acceleration from 2.14 to 0.30. The paper reports direction emerging only at a sharp mid-depth transition. Here there is no step, just a steep rise and a glide.</a:t>
            </a:r>
          </a:p>
          <a:p/>
          <a:p>
            <a:r>
              <a:t>THE CONTROL that makes that a finding rather than an artefact: the worry is that the probe reads POSITION rather than direction. It does not — the frame-0 centroid alone scores 86.3 degrees against a chance of 90. So this is real, and most likely a dataset-simplicity effect: one high-contrast disk on an empty field.</a:t>
            </a:r>
          </a:p>
          <a:p/>
          <a:p>
            <a:r>
              <a:t>IF ASKED WHERE EACH VARIABLE 'BECOMES AVAILABLE': be careful with thresholds. R-squared clears 0.95 at layer 1 for both scalars and layer 4 for direction, but R-squared saturates far too early to be informative — at layer 4 direction still has twice its eventual error. On the native metric, the scalars are within 2x of their best at layer 1 and direction at layer 4; within 1.2x at layers 11, 11 and 13. Same ordering, but it says where each variable is genuinely finished.</a:t>
            </a:r>
          </a:p>
          <a:p/>
          <a:p>
            <a:r>
              <a:t>TWO THINGS TO FLAG. The tracker oracle beats every encoder probe — 1.19 degrees against 2.57 — so V-JEPA loses roughly half the recoverable signal. And pooling moves the apparent best layer by up to six layers, so a single-pooling curve would confound emergence with pooling dilution. A third, tracker-selected pooling exists but is excluded from interpretation: its mask is built from the trajectory, which is the label.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endParaRPr/>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endParaRPr/>
          </a:p>
          <a:p>
            <a:r>
              <a:t>Counted in ROUNDS — independent readouts extractable before the signal dies — the three are essentially equal: 71, 69, 67.</a:t>
            </a:r>
          </a:p>
          <a:p>
            <a:endParaRPr/>
          </a:p>
          <a:p>
            <a:r>
              <a:t>The decisive control is the right panel. Give direction a ONE-dimensional target on the same activations: sin theta alone costs 76 dimensions, cos theta alone 54 — squarely in the scalars' range of 67 to 69. The 142 is just 71 rounds times two.</a:t>
            </a:r>
          </a:p>
          <a:p>
            <a:endParaRPr/>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endParaRPr/>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principal component is almost purely one harmonic. PC1-2 are cos and sin of theta; PC3 is two theta; PC4 is four theta. The ladder is 1, 2, 4 — m=3 sits at the noise floor.</a:t>
            </a:r>
          </a:p>
          <a:p>
            <a:endParaRPr/>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endParaRPr/>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paper's steering experiment, and the evaluation protocol is the part worth spelling out.</a:t>
            </a:r>
          </a:p>
          <a:p>
            <a:endParaRPr/>
          </a:p>
          <a:p>
            <a:r>
              <a:t>THREE INDEPENDENT HELD-OUT AXES. The evaluation probe is never one of the K that built the steering subspace, and it is fitted on clips disjoint from all of them. The clips being steered carry target values never seen during fitting. Without the probe split, 'steering worked' would only mean the intervention satisfied the very equations it solved.</a:t>
            </a:r>
          </a:p>
          <a:p>
            <a:endParaRPr/>
          </a:p>
          <a:p>
            <a:r>
              <a:t>LEFT PANEL, the result. A single probe closes 28 percent of the floor-to-ceiling gap for direction but 74 percent for either scalar. Direction needs K of at least two and is essentially solved by K around four. That is the causal counterpart of slide 3: a 2-dimensional readout cannot be driven along a single direction.</a:t>
            </a:r>
          </a:p>
          <a:p>
            <a:endParaRPr/>
          </a:p>
          <a:p>
            <a:r>
              <a:t>MIDDLE AND RIGHT, the cost. To build a subspace big enough to steer the ring you capture other kinematics with it. By dimension 16 every cell in the matrix leaks. Dimension 4 to 8 is the usable operating point.</a:t>
            </a:r>
          </a:p>
          <a:p>
            <a:endParaRPr/>
          </a:p>
          <a:p>
            <a:r>
              <a:t>TWO CELLS ARE BLANK, and that is a finding about the data. Speed and acceleration are mutually exclusive in every supplied dataset — no clip has both non-zero — so the coupling v = v0 + a t that would make that leakage interesting has been designed out of the stimulus set.</a:t>
            </a:r>
          </a:p>
          <a:p>
            <a:endParaRPr/>
          </a:p>
          <a:p>
            <a:r>
              <a:t>If asked what the intervention actually solves: minimise the L2 norm of delta-x subject to the probes reading the target. That is the Moore-Penrose minimum-norm edit, verified against a direct pseudo-inverse to three times ten to the minus fourteen. Smallest EUCLIDEAN step — which is exactly the setup for Act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Wurgaft</a:t>
            </a:r>
            <a:r>
              <a:rPr dirty="0"/>
              <a:t> et al. warn that Euclidean steering goes off-manifold. Our data says that is NECESSARY BUT NOT SUFFICIENT.</a:t>
            </a:r>
          </a:p>
          <a:p>
            <a:endParaRPr dirty="0"/>
          </a:p>
          <a:p>
            <a:r>
              <a:rPr dirty="0"/>
              <a:t>The tempting explanation — direction is more curved — does not survive measurement. Speed's manifold is curved too, 4.68 against 6.59, and both chords sit 80 to 120 times off manifold in every pair we tested. Yet the </a:t>
            </a:r>
            <a:r>
              <a:rPr dirty="0" err="1"/>
              <a:t>behavioural</a:t>
            </a:r>
            <a:r>
              <a:rPr dirty="0"/>
              <a:t> penalty appears only for direction.</a:t>
            </a:r>
          </a:p>
          <a:p>
            <a:endParaRPr dirty="0"/>
          </a:p>
          <a:p>
            <a:r>
              <a:rPr dirty="0"/>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You might expect the </a:t>
            </a:r>
            <a:r>
              <a:rPr dirty="0" err="1"/>
              <a:t>centre</a:t>
            </a:r>
            <a:r>
              <a:rPr dirty="0"/>
              <a:t> of the ring to be the stationary state: left plus right equals nothing. IT IS NOT. Speed survives completely, and so does the axis of motion. Only the direction bit is removed.</a:t>
            </a:r>
          </a:p>
          <a:p>
            <a:endParaRPr dirty="0"/>
          </a:p>
          <a:p>
            <a:r>
              <a:rPr dirty="0"/>
              <a:t>So the model is holding: an object moving along this specific line, at 2.1 </a:t>
            </a:r>
            <a:r>
              <a:rPr dirty="0" err="1"/>
              <a:t>metres</a:t>
            </a:r>
            <a:r>
              <a:rPr dirty="0"/>
              <a:t> per second, with no fact about which of the two ways it is going. No clip in the dataset can be in that state.</a:t>
            </a:r>
          </a:p>
          <a:p>
            <a:endParaRPr dirty="0"/>
          </a:p>
          <a:p>
            <a:r>
              <a:rPr dirty="0"/>
              <a:t>And it falls straight out of slide 4. m=1 is anti-symmetric under a 180-degree flip, so the two endpoints cancel exactly at the midpoint. m=2 is invariant, so the axis rides through untouched. That is also why the collapse bottoms out precisely at t = 0.5.</a:t>
            </a:r>
          </a:p>
          <a:p>
            <a:endParaRPr dirty="0"/>
          </a:p>
          <a:p>
            <a:r>
              <a:rPr dirty="0"/>
              <a:t>This is the concrete version of 'unnatural output': not noise, but a structured, physically impossible state.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candidates. LAYERNORM IS NOT THE ANSWER — token norms and channel standard deviations sit within half a percent of the control, and only 0.6% of the edit lies along the all-ones direction that </a:t>
            </a:r>
            <a:r>
              <a:rPr dirty="0" err="1"/>
              <a:t>LayerNorm</a:t>
            </a:r>
            <a:r>
              <a:rPr dirty="0"/>
              <a:t> deletes.</a:t>
            </a:r>
          </a:p>
          <a:p>
            <a:endParaRPr dirty="0"/>
          </a:p>
          <a:p>
            <a:r>
              <a:rPr dirty="0"/>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endParaRPr dirty="0"/>
          </a:p>
          <a:p>
            <a:r>
              <a:rPr dirty="0"/>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strongest result in the deck, and it is the one that answers Wurgaft directly.</a:t>
            </a:r>
          </a:p>
          <a:p/>
          <a:p>
            <a:r>
              <a:t>EVERYTHING SO FAR HAS READ A PROBE on a downstream encoder layer — so it speaks about the REPRESENTATION. Their thesis is about BEHAVIOUR. For a JEPA the nearest thing to behaviour is what the predictor forecasts, and this checkpoint ships a driveable one.</a:t>
            </a:r>
          </a:p>
          <a:p/>
          <a:p>
            <a:r>
              <a:t>SETUP. Inject at layer 16, propagate through all 24 blocks, then ask the predictor to forecast temporal blocks four to seven from blocks zero to three. A probe fitted on UNSTEERED forecasts reads it. A change means the model's own forward prediction moved.</a:t>
            </a:r>
          </a:p>
          <a:p/>
          <a:p>
            <a:r>
              <a:t>THE RESULT. Unsteered, the forecast encodes the clip's own direction at 6.5 degrees, so the forecast is readable — the experiment needs that. Multi-probe steering closes 7 PERCENT of the gap: the forecast still encodes the ORIGINAL motion, alignment 0.83. The model goes on predicting the motion it was always going to predict. The spline closes 95 PERCENT — the forecast now encodes the TARGET at alignment 0.96, no longer the original, and certainty rises to 0.999.</a:t>
            </a:r>
          </a:p>
          <a:p/>
          <a:p>
            <a:r>
              <a:t>MAGNITUDE CONTROL, right panel. Scaling the Euclidean edit does help here, unlike retention on the previous slide where bigger was worse. But at MATCHED perturbation norm it reaches 41 percent against the spline's 95 — a 2.2 times difference in behavioural effect.</a:t>
            </a:r>
          </a:p>
          <a:p/>
          <a:p>
            <a:r>
              <a:t>THE LINE TO LAND: multi-probe steering satisfies every probe you point at it while leaving the model's forecast almost untouched. SATISFYING A PROBE IS NOT THE SAME AS STEERING A WORLD MODEL.</a:t>
            </a:r>
          </a:p>
          <a:p/>
          <a:p>
            <a:r>
              <a:t>CAVEAT to volunteer: 'behaviour' here is still a latent forecast read by a probe, not decoded pixels. The predictor forecasts encoder-space latents. So this closes the gap between representation and prediction, but not between prediction and rendered output.</a:t>
            </a:r>
          </a:p>
          <a:p/>
          <a:p>
            <a:r>
              <a:t>The previous slide's retention result — 76 against 25 percent — still stands and is about preservation. This one is different in kind: it is about what the model does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direct parallel to LLM interpretability, and it is worth saying where it comes from. </a:t>
            </a:r>
            <a:r>
              <a:rPr dirty="0" err="1"/>
              <a:t>Anthropic's</a:t>
            </a:r>
            <a:r>
              <a:rPr dirty="0"/>
              <a:t> Scaling </a:t>
            </a:r>
            <a:r>
              <a:rPr dirty="0" err="1"/>
              <a:t>Monosemanticity</a:t>
            </a:r>
            <a:r>
              <a:rPr dirty="0"/>
              <a:t> work — Templeton and colleagues, 2024 — steers Claude 3 Sonnet by CLAMPING a sparse-autoencoder feature's activation during the forward pass, typically to something like ten times its maximum observed value. Golden Gate Claude is that technique.</a:t>
            </a:r>
          </a:p>
          <a:p>
            <a:endParaRPr dirty="0"/>
          </a:p>
          <a:p>
            <a:r>
              <a:rPr dirty="0"/>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endParaRPr dirty="0"/>
          </a:p>
          <a:p>
            <a:r>
              <a:rPr dirty="0"/>
              <a:t>THE RESULT: IT WORKS. At four blocks downstream, clamping more than doubles the retained effect over a one-shot edit — 0.79 against 0.36. Continuous feature clamping transfers from language models to a video world model without modification.</a:t>
            </a:r>
          </a:p>
          <a:p>
            <a:endParaRPr dirty="0"/>
          </a:p>
          <a:p>
            <a:r>
              <a:rPr dirty="0"/>
              <a:t>TWO CAVEATS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endParaRPr dirty="0"/>
          </a:p>
          <a:p>
            <a:r>
              <a:rPr dirty="0"/>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endParaRPr dirty="0"/>
          </a:p>
          <a:p>
            <a:r>
              <a:rPr dirty="0"/>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endParaRPr/>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endParaRPr/>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a:t>
            </a:r>
            <a:r>
              <a:t>hether </a:t>
            </a:r>
            <a:r>
              <a:rPr dirty="0"/>
              <a:t>the off-manifold state is a noisy variant of a real one.</a:t>
            </a:r>
          </a:p>
          <a:p>
            <a:endParaRPr dirty="0"/>
          </a:p>
          <a:p>
            <a:r>
              <a:rPr dirty="0"/>
              <a:t>THREE TESTS, AND THE INTUITIVE ONE FAILS.</a:t>
            </a:r>
          </a:p>
          <a:p>
            <a:endParaRPr dirty="0"/>
          </a:p>
          <a:p>
            <a:r>
              <a:rPr dirty="0"/>
              <a:t>Test 1, the bootstrap tube: the chord sits 2.4 times outside the 95% tube at its worst point, and 51% of its length is outside. Real, but weaker than it sounds — the tube is about 38% of the ring radius, so 1,148 clips do not pin the manifold that tightly.</a:t>
            </a:r>
          </a:p>
          <a:p>
            <a:endParaRPr dirty="0"/>
          </a:p>
          <a:p>
            <a:r>
              <a:rPr dirty="0"/>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endParaRPr dirty="0"/>
          </a:p>
          <a:p>
            <a:r>
              <a:rPr dirty="0"/>
              <a:t>Test 3, the radial shell, is decisive. In 64 dimensions the data occupies a shell, not a ball. Real clips sit at radius 15.8 minimum, 23.7 median. The midpoint sits at 5.1. ZERO of 1,148 clips are that close to the </a:t>
            </a:r>
            <a:r>
              <a:rPr dirty="0" err="1"/>
              <a:t>centre</a:t>
            </a:r>
            <a:r>
              <a:rPr dirty="0"/>
              <a:t> — z-score minus 4.1, and 0.32 times the radius of the closest real clip.</a:t>
            </a:r>
          </a:p>
          <a:p>
            <a:endParaRPr dirty="0"/>
          </a:p>
          <a:p>
            <a:r>
              <a:rPr dirty="0"/>
              <a:t>So: the midpoint occupies a region no training clip occupies. Lead with 0-of-1148, not the tube.</a:t>
            </a:r>
          </a:p>
          <a:p>
            <a:endParaRPr dirty="0"/>
          </a:p>
          <a:p>
            <a:r>
              <a:rPr dirty="0"/>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3"/>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Layer-wise linear probes for all three variables, on held-out label values. The dash-dot line is what a perfect pixel tracker achieves on the same clips. Layer 0 is omitted — it is off-scale in every panel.</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BEST, ALL THREE</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300" b="1">
                <a:solidFill>
                  <a:srgbClr val="1E7A4E"/>
                </a:solidFill>
                <a:latin typeface="Menlo"/>
              </a:rPr>
              <a:t>L16 / L14 / L14</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2.57° · 0.056 · 0.153</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300" b="1">
                <a:solidFill>
                  <a:srgbClr val="0B4F6C"/>
                </a:solidFill>
                <a:latin typeface="Menlo"/>
              </a:rPr>
              <a:t>1.19° · 0.011 · 0.036</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the encoder never reaches it</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02</a:t>
            </a:r>
          </a:p>
        </p:txBody>
      </p:sp>
      <p:pic>
        <p:nvPicPr>
          <p:cNvPr id="22" name="Picture 21" descr="layer_sweep_all.png"/>
          <p:cNvPicPr>
            <a:picLocks noChangeAspect="1"/>
          </p:cNvPicPr>
          <p:nvPr/>
        </p:nvPicPr>
        <p:blipFill>
          <a:blip r:embed="rId4"/>
          <a:stretch>
            <a:fillRect/>
          </a:stretch>
        </p:blipFill>
        <p:spPr>
          <a:xfrm>
            <a:off x="2953512" y="3042636"/>
            <a:ext cx="6291072" cy="1879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3"/>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3"/>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Steering direction needs a coordinated subspace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a coordinated subspace works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EITHER SCALAR, K = 1</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74%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one probe is enough</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3"/>
          <a:stretch>
            <a:fillRect/>
          </a:stretch>
        </p:blipFill>
        <p:spPr>
          <a:xfrm>
            <a:off x="2878277" y="3042013"/>
            <a:ext cx="6435139" cy="188039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3"/>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three probes at the midpoint of the linear direction chord. Run on the clips where theta and speed are decorrelated, so the speed probe is clean.</a:t>
            </a:r>
          </a:p>
        </p:txBody>
      </p:sp>
      <p:pic>
        <p:nvPicPr>
          <p:cNvPr id="7" name="Picture 6" descr="ghost_state.png"/>
          <p:cNvPicPr>
            <a:picLocks noChangeAspect="1"/>
          </p:cNvPicPr>
          <p:nvPr/>
        </p:nvPicPr>
        <p:blipFill>
          <a:blip r:embed="rId3"/>
          <a:stretch>
            <a:fillRect/>
          </a:stretch>
        </p:blipFill>
        <p:spPr>
          <a:xfrm>
            <a:off x="3730046" y="2633472"/>
            <a:ext cx="4731602"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SPEED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E7A4E"/>
                </a:solidFill>
                <a:latin typeface="Menlo"/>
              </a:rPr>
              <a:t>2.10 → 2.17 m/s</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untouched across the path</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DIRECTION, M = 1</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certainty 0.18</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annihilated — chance is 0</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3"/>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It changes what the model predicts next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Inject at layer 16, propagate through the whole encoder, then drive the shipped predictor: forecast the second half of the clip from the first. A probe fitted on unsteered forecasts reads the result — so this is behaviour, not representation.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FORECAST, UNSTEERED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71757B"/>
                </a:solidFill>
                <a:latin typeface="Menlo"/>
              </a:rPr>
              <a:t>81.4°</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to the target — the floor</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MULTI-PROBE K = 16</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76.4°</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7% of the gap closed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SPLINE, ON-MANIFOLD</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14.4°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95% — ceiling is 11.1°</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AT MATCHED ‖Δ‖</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41% vs 95%</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not a magnitude effect</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09</a:t>
            </a:r>
          </a:p>
        </p:txBody>
      </p:sp>
      <p:pic>
        <p:nvPicPr>
          <p:cNvPr id="26" name="Picture 25" descr="behaviour_forecast.png"/>
          <p:cNvPicPr>
            <a:picLocks noChangeAspect="1"/>
          </p:cNvPicPr>
          <p:nvPr/>
        </p:nvPicPr>
        <p:blipFill>
          <a:blip r:embed="rId4"/>
          <a:stretch>
            <a:fillRect/>
          </a:stretch>
        </p:blipFill>
        <p:spPr>
          <a:xfrm>
            <a:off x="2953512" y="2902401"/>
            <a:ext cx="6291072" cy="215962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3"/>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4020159">
                  <a:extLst>
                    <a:ext uri="{9D8B030D-6E8A-4147-A177-3AD203B41FA5}">
                      <a16:colId xmlns:a16="http://schemas.microsoft.com/office/drawing/2014/main" val="20001"/>
                    </a:ext>
                  </a:extLst>
                </a:gridCol>
                <a:gridCol w="4020159">
                  <a:extLst>
                    <a:ext uri="{9D8B030D-6E8A-4147-A177-3AD203B41FA5}">
                      <a16:colId xmlns:a16="http://schemas.microsoft.com/office/drawing/2014/main" val="20002"/>
                    </a:ext>
                  </a:extLst>
                </a:gridCol>
              </a:tblGrid>
              <a:tr h="391885">
                <a:tc>
                  <a:txBody>
                    <a:bodyPr/>
                    <a:lstStyle/>
                    <a:p>
                      <a:endParaRPr/>
                    </a:p>
                  </a:txBody>
                  <a:tcPr marL="128016" marT="54864" marB="54864" anchor="ctr">
                    <a:solidFill>
                      <a:srgbClr val="FFFFFF"/>
                    </a:solidFill>
                  </a:tcPr>
                </a:tc>
                <a:tc>
                  <a:txBody>
                    <a:bodyPr/>
                    <a:lstStyle/>
                    <a:p>
                      <a:r>
                        <a:rPr sz="850" b="0" i="0" spc="120">
                          <a:solidFill>
                            <a:srgbClr val="71757B"/>
                          </a:solidFill>
                          <a:latin typeface="Menlo"/>
                        </a:rPr>
                        <a:t>MULTI-PROBE SUBSPACE</a:t>
                      </a:r>
                    </a:p>
                  </a:txBody>
                  <a:tcPr marL="128016" marT="54864" marB="54864" anchor="ctr">
                    <a:solidFill>
                      <a:srgbClr val="FFFFFF"/>
                    </a:solidFill>
                  </a:tcPr>
                </a:tc>
                <a:tc>
                  <a:txBody>
                    <a:bodyPr/>
                    <a:lstStyle/>
                    <a:p>
                      <a:r>
                        <a:rPr sz="850" b="0" i="0" spc="120">
                          <a:solidFill>
                            <a:srgbClr val="71757B"/>
                          </a:solidFill>
                          <a:latin typeface="Menlo"/>
                        </a:rPr>
                        <a:t>SPLINE / MANIFOLD</a:t>
                      </a:r>
                    </a:p>
                  </a:txBody>
                  <a:tcPr marL="128016" marT="54864" marB="54864" anchor="ctr">
                    <a:solidFill>
                      <a:srgbClr val="FFFFFF"/>
                    </a:solidFill>
                  </a:tcPr>
                </a:tc>
                <a:extLst>
                  <a:ext uri="{0D108BD9-81ED-4DB2-BD59-A6C34878D82A}">
                    <a16:rowId xmlns:a16="http://schemas.microsoft.com/office/drawing/2014/main" val="10000"/>
                  </a:ext>
                </a:extLst>
              </a:tr>
              <a:tr h="391885">
                <a:tc>
                  <a:txBody>
                    <a:bodyPr/>
                    <a:lstStyle/>
                    <a:p>
                      <a:r>
                        <a:rPr sz="1050" b="1" i="0">
                          <a:solidFill>
                            <a:srgbClr val="17191C"/>
                          </a:solidFill>
                          <a:latin typeface="Avenir Next"/>
                        </a:rPr>
                        <a:t>endpoint accuracy</a:t>
                      </a:r>
                    </a:p>
                  </a:txBody>
                  <a:tcPr marL="128016" marT="54864" marB="54864" anchor="ctr">
                    <a:solidFill>
                      <a:srgbClr val="FFFFFF"/>
                    </a:solidFill>
                  </a:tcPr>
                </a:tc>
                <a:tc>
                  <a:txBody>
                    <a:bodyPr/>
                    <a:lstStyle/>
                    <a:p>
                      <a:r>
                        <a:rPr sz="1050" b="0" i="0">
                          <a:solidFill>
                            <a:srgbClr val="1E7A4E"/>
                          </a:solidFill>
                          <a:latin typeface="Avenir Next"/>
                        </a:rPr>
                        <a:t>better — 5.32°</a:t>
                      </a:r>
                    </a:p>
                  </a:txBody>
                  <a:tcPr marL="128016" marT="54864" marB="54864" anchor="ctr">
                    <a:solidFill>
                      <a:srgbClr val="FFFFFF"/>
                    </a:solidFill>
                  </a:tcPr>
                </a:tc>
                <a:tc>
                  <a:txBody>
                    <a:bodyPr/>
                    <a:lstStyle/>
                    <a:p>
                      <a:r>
                        <a:rPr sz="1050" b="0" i="0">
                          <a:solidFill>
                            <a:srgbClr val="71757B"/>
                          </a:solidFill>
                          <a:latin typeface="Avenir Next"/>
                        </a:rPr>
                        <a:t>7.02°</a:t>
                      </a:r>
                    </a:p>
                  </a:txBody>
                  <a:tcPr marL="128016" marT="54864" marB="54864" anchor="ctr">
                    <a:solidFill>
                      <a:srgbClr val="FFFFFF"/>
                    </a:solidFill>
                  </a:tcPr>
                </a:tc>
                <a:extLst>
                  <a:ext uri="{0D108BD9-81ED-4DB2-BD59-A6C34878D82A}">
                    <a16:rowId xmlns:a16="http://schemas.microsoft.com/office/drawing/2014/main" val="10001"/>
                  </a:ext>
                </a:extLst>
              </a:tr>
              <a:tr h="391885">
                <a:tc>
                  <a:txBody>
                    <a:bodyPr/>
                    <a:lstStyle/>
                    <a:p>
                      <a:r>
                        <a:rPr sz="1050" b="1" i="0">
                          <a:solidFill>
                            <a:srgbClr val="17191C"/>
                          </a:solidFill>
                          <a:latin typeface="Avenir Next"/>
                        </a:rPr>
                        <a:t>survives propagation</a:t>
                      </a:r>
                    </a:p>
                  </a:txBody>
                  <a:tcPr marL="128016" marT="54864" marB="54864" anchor="ctr">
                    <a:solidFill>
                      <a:srgbClr val="FFFFFF"/>
                    </a:solidFill>
                  </a:tcPr>
                </a:tc>
                <a:tc>
                  <a:txBody>
                    <a:bodyPr/>
                    <a:lstStyle/>
                    <a:p>
                      <a:r>
                        <a:rPr sz="1050" b="0" i="0">
                          <a:solidFill>
                            <a:srgbClr val="B03A2E"/>
                          </a:solidFill>
                          <a:latin typeface="Avenir Next"/>
                        </a:rPr>
                        <a:t>25% at four blocks</a:t>
                      </a:r>
                    </a:p>
                  </a:txBody>
                  <a:tcPr marL="128016" marT="54864" marB="54864" anchor="ctr">
                    <a:solidFill>
                      <a:srgbClr val="FFFFFF"/>
                    </a:solidFill>
                  </a:tcPr>
                </a:tc>
                <a:tc>
                  <a:txBody>
                    <a:bodyPr/>
                    <a:lstStyle/>
                    <a:p>
                      <a:r>
                        <a:rPr sz="1050" b="0" i="0">
                          <a:solidFill>
                            <a:srgbClr val="1E7A4E"/>
                          </a:solidFill>
                          <a:latin typeface="Avenir Next"/>
                        </a:rPr>
                        <a:t>76%</a:t>
                      </a:r>
                    </a:p>
                  </a:txBody>
                  <a:tcPr marL="128016" marT="54864" marB="54864" anchor="ctr">
                    <a:solidFill>
                      <a:srgbClr val="FFFFFF"/>
                    </a:solidFill>
                  </a:tcPr>
                </a:tc>
                <a:extLst>
                  <a:ext uri="{0D108BD9-81ED-4DB2-BD59-A6C34878D82A}">
                    <a16:rowId xmlns:a16="http://schemas.microsoft.com/office/drawing/2014/main" val="10002"/>
                  </a:ext>
                </a:extLst>
              </a:tr>
              <a:tr h="391885">
                <a:tc>
                  <a:txBody>
                    <a:bodyPr/>
                    <a:lstStyle/>
                    <a:p>
                      <a:r>
                        <a:rPr sz="1050" b="1" i="0">
                          <a:solidFill>
                            <a:srgbClr val="17191C"/>
                          </a:solidFill>
                          <a:latin typeface="Avenir Next"/>
                        </a:rPr>
                        <a:t>intermediate states</a:t>
                      </a:r>
                    </a:p>
                  </a:txBody>
                  <a:tcPr marL="128016" marT="54864" marB="54864" anchor="ctr">
                    <a:solidFill>
                      <a:srgbClr val="FFFFFF"/>
                    </a:solidFill>
                  </a:tcPr>
                </a:tc>
                <a:tc>
                  <a:txBody>
                    <a:bodyPr/>
                    <a:lstStyle/>
                    <a:p>
                      <a:r>
                        <a:rPr sz="1050" b="0" i="0">
                          <a:solidFill>
                            <a:srgbClr val="B03A2E"/>
                          </a:solidFill>
                          <a:latin typeface="Avenir Next"/>
                        </a:rPr>
                        <a:t>collapse on closed geometry</a:t>
                      </a:r>
                    </a:p>
                  </a:txBody>
                  <a:tcPr marL="128016" marT="54864" marB="54864" anchor="ctr">
                    <a:solidFill>
                      <a:srgbClr val="FFFFFF"/>
                    </a:solidFill>
                  </a:tcPr>
                </a:tc>
                <a:tc>
                  <a:txBody>
                    <a:bodyPr/>
                    <a:lstStyle/>
                    <a:p>
                      <a:r>
                        <a:rPr sz="1050" b="0" i="0">
                          <a:solidFill>
                            <a:srgbClr val="1E7A4E"/>
                          </a:solidFill>
                          <a:latin typeface="Avenir Next"/>
                        </a:rPr>
                        <a:t>stay valid</a:t>
                      </a:r>
                    </a:p>
                  </a:txBody>
                  <a:tcPr marL="128016" marT="54864" marB="54864" anchor="ctr">
                    <a:solidFill>
                      <a:srgbClr val="FFFFFF"/>
                    </a:solidFill>
                  </a:tcPr>
                </a:tc>
                <a:extLst>
                  <a:ext uri="{0D108BD9-81ED-4DB2-BD59-A6C34878D82A}">
                    <a16:rowId xmlns:a16="http://schemas.microsoft.com/office/drawing/2014/main" val="10003"/>
                  </a:ext>
                </a:extLst>
              </a:tr>
              <a:tr h="391885">
                <a:tc>
                  <a:txBody>
                    <a:bodyPr/>
                    <a:lstStyle/>
                    <a:p>
                      <a:r>
                        <a:rPr sz="1050" b="1" i="0">
                          <a:solidFill>
                            <a:srgbClr val="17191C"/>
                          </a:solidFill>
                          <a:latin typeface="Avenir Next"/>
                        </a:rPr>
                        <a:t>what it needs</a:t>
                      </a:r>
                    </a:p>
                  </a:txBody>
                  <a:tcPr marL="128016" marT="54864" marB="54864" anchor="ctr">
                    <a:solidFill>
                      <a:srgbClr val="FFFFFF"/>
                    </a:solidFill>
                  </a:tcPr>
                </a:tc>
                <a:tc>
                  <a:txBody>
                    <a:bodyPr/>
                    <a:lstStyle/>
                    <a:p>
                      <a:r>
                        <a:rPr sz="1050" b="0" i="0">
                          <a:solidFill>
                            <a:srgbClr val="71757B"/>
                          </a:solidFill>
                          <a:latin typeface="Avenir Next"/>
                        </a:rPr>
                        <a:t>K fitted probes</a:t>
                      </a:r>
                    </a:p>
                  </a:txBody>
                  <a:tcPr marL="128016" marT="54864" marB="54864" anchor="ctr">
                    <a:solidFill>
                      <a:srgbClr val="FFFFFF"/>
                    </a:solidFill>
                  </a:tcPr>
                </a:tc>
                <a:tc>
                  <a:txBody>
                    <a:bodyPr/>
                    <a:lstStyle/>
                    <a:p>
                      <a:r>
                        <a:rPr sz="1050" b="0" i="0">
                          <a:solidFill>
                            <a:srgbClr val="71757B"/>
                          </a:solidFill>
                          <a:latin typeface="Avenir Next"/>
                        </a:rPr>
                        <a:t>per-value centroids only</a:t>
                      </a:r>
                    </a:p>
                  </a:txBody>
                  <a:tcPr marL="128016" marT="54864" marB="54864" anchor="ctr">
                    <a:solidFill>
                      <a:srgbClr val="FFFFFF"/>
                    </a:solidFill>
                  </a:tcPr>
                </a:tc>
                <a:extLst>
                  <a:ext uri="{0D108BD9-81ED-4DB2-BD59-A6C34878D82A}">
                    <a16:rowId xmlns:a16="http://schemas.microsoft.com/office/drawing/2014/main" val="10004"/>
                  </a:ext>
                </a:extLst>
              </a:tr>
              <a:tr h="391885">
                <a:tc>
                  <a:txBody>
                    <a:bodyPr/>
                    <a:lstStyle/>
                    <a:p>
                      <a:r>
                        <a:rPr sz="1050" b="1" i="0">
                          <a:solidFill>
                            <a:srgbClr val="17191C"/>
                          </a:solidFill>
                          <a:latin typeface="Avenir Next"/>
                        </a:rPr>
                        <a:t>best for</a:t>
                      </a:r>
                    </a:p>
                  </a:txBody>
                  <a:tcPr marL="128016" marT="54864" marB="54864" anchor="ctr">
                    <a:solidFill>
                      <a:srgbClr val="FFFFFF"/>
                    </a:solidFill>
                  </a:tcPr>
                </a:tc>
                <a:tc>
                  <a:txBody>
                    <a:bodyPr/>
                    <a:lstStyle/>
                    <a:p>
                      <a:r>
                        <a:rPr sz="1050" b="0" i="0">
                          <a:solidFill>
                            <a:srgbClr val="71757B"/>
                          </a:solidFill>
                          <a:latin typeface="Avenir Next"/>
                        </a:rPr>
                        <a:t>monotone scalars</a:t>
                      </a:r>
                    </a:p>
                  </a:txBody>
                  <a:tcPr marL="128016" marT="54864" marB="54864" anchor="ctr">
                    <a:solidFill>
                      <a:srgbClr val="FFFFFF"/>
                    </a:solidFill>
                  </a:tcPr>
                </a:tc>
                <a:tc>
                  <a:txBody>
                    <a:bodyPr/>
                    <a:lstStyle/>
                    <a:p>
                      <a:r>
                        <a:rPr sz="1050" b="0" i="0">
                          <a:solidFill>
                            <a:srgbClr val="71757B"/>
                          </a:solidFill>
                          <a:latin typeface="Avenir Next"/>
                        </a:rPr>
                        <a:t>cyclic variables</a:t>
                      </a:r>
                    </a:p>
                  </a:txBody>
                  <a:tcPr marL="128016" marT="54864" marB="54864" anchor="ctr">
                    <a:solidFill>
                      <a:srgbClr val="FFFFFF"/>
                    </a:solidFill>
                  </a:tcPr>
                </a:tc>
                <a:extLst>
                  <a:ext uri="{0D108BD9-81ED-4DB2-BD59-A6C34878D82A}">
                    <a16:rowId xmlns:a16="http://schemas.microsoft.com/office/drawing/2014/main" val="10005"/>
                  </a:ext>
                </a:extLst>
              </a:tr>
              <a:tr h="391885">
                <a:tc>
                  <a:txBody>
                    <a:bodyPr/>
                    <a:lstStyle/>
                    <a:p>
                      <a:r>
                        <a:rPr sz="1050" b="1" i="0">
                          <a:solidFill>
                            <a:srgbClr val="17191C"/>
                          </a:solidFill>
                          <a:latin typeface="Avenir Next"/>
                        </a:rPr>
                        <a:t>main failure</a:t>
                      </a:r>
                    </a:p>
                  </a:txBody>
                  <a:tcPr marL="128016" marT="54864" marB="54864" anchor="ctr">
                    <a:solidFill>
                      <a:srgbClr val="FFFFFF"/>
                    </a:solidFill>
                  </a:tcPr>
                </a:tc>
                <a:tc>
                  <a:txBody>
                    <a:bodyPr/>
                    <a:lstStyle/>
                    <a:p>
                      <a:r>
                        <a:rPr sz="1050" b="0" i="0">
                          <a:solidFill>
                            <a:srgbClr val="B03A2E"/>
                          </a:solidFill>
                          <a:latin typeface="Avenir Next"/>
                        </a:rPr>
                        <a:t>minimises the wrong norm</a:t>
                      </a:r>
                    </a:p>
                  </a:txBody>
                  <a:tcPr marL="128016" marT="54864" marB="54864" anchor="ctr">
                    <a:solidFill>
                      <a:srgbClr val="FFFFFF"/>
                    </a:solidFill>
                  </a:tcPr>
                </a:tc>
                <a:tc>
                  <a:txBody>
                    <a:bodyPr/>
                    <a:lstStyle/>
                    <a:p>
                      <a:r>
                        <a:rPr sz="1050" b="0" i="0">
                          <a:solidFill>
                            <a:srgbClr val="71757B"/>
                          </a:solidFill>
                          <a:latin typeface="Avenir Next"/>
                        </a:rPr>
                        <a:t>undershoots the target</a:t>
                      </a:r>
                    </a:p>
                  </a:txBody>
                  <a:tcPr marL="128016" marT="54864" marB="54864" anchor="ctr">
                    <a:solidFill>
                      <a:srgbClr val="FFFFFF"/>
                    </a:solidFill>
                  </a:tcPr>
                </a:tc>
                <a:extLst>
                  <a:ext uri="{0D108BD9-81ED-4DB2-BD59-A6C34878D82A}">
                    <a16:rowId xmlns:a16="http://schemas.microsoft.com/office/drawing/2014/main" val="10006"/>
                  </a:ext>
                </a:extLst>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3"/>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3677</Words>
  <Application>Microsoft Macintosh PowerPoint</Application>
  <PresentationFormat>Widescreen</PresentationFormat>
  <Paragraphs>311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 Next</vt:lpstr>
      <vt:lpstr>Calibri</vt:lpstr>
      <vt:lpstr>Futura</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Vishal Das</cp:lastModifiedBy>
  <cp:revision>2</cp:revision>
  <dcterms:created xsi:type="dcterms:W3CDTF">2013-01-27T09:14:16Z</dcterms:created>
  <dcterms:modified xsi:type="dcterms:W3CDTF">2026-09-21T20:29:41Z</dcterms:modified>
  <cp:category/>
</cp:coreProperties>
</file>