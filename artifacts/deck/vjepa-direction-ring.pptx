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to set the hook. We already know video world models learn physics. The open question is how they ORGANISE it — because that decides whether we can control them.</a:t>
            </a:r>
          </a:p>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is decodable at 11.4 degrees from LAYER 1 — one attention block. The paper reports it emerging only at a sharp mid-depth transition. Here there is no step, just a steep rise and a glide.</a:t>
            </a:r>
          </a:p>
          <a:p/>
          <a:p>
            <a:r>
              <a:t>The obvious objection is that the probe reads POSITION, not direction. It does not: the frame-0 centroid alone scores 86.3 degrees against a chance of 90. So this is real, and most likely a dataset-simplicity effect — one high-contrast disk on an empty field.</a:t>
            </a:r>
          </a:p>
          <a:p/>
          <a:p>
            <a:r>
              <a:t>Two things to flag while this is up. The tracker oracle beats every encoder probe, so V-JEPA loses roughly half the recoverable signal. And pooling moves the apparent best layer by up to six layers, so a single-pooling curve would confound emergence with pooling dilution.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probe subspace drives direction from R-squared 0.99 to 0.01; removing random subspaces of the same size does nothing. That contrast is the finding.</a:t>
            </a:r>
          </a:p>
          <a:p/>
          <a:p>
            <a:r>
              <a:t>SAY THIS CAREFULLY. All three variables are high-dimensional — the scalars are not a compact cliff. Speed still needs 69 dimensions to lose half its signal. The real result is a clean roughly-2x RATIO, not a cliff-versus-tail contrast. Overstating it is the first thing a reader of the curve would catch.</a:t>
            </a:r>
          </a:p>
          <a:p/>
          <a:p>
            <a:r>
              <a:t>Practical consequence, which Act 2 pays off: a single probe steers either scalar. A single probe barely moves direction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principal component is almost purely one harmonic. PC1-2 are cos and sin of theta; PC3 is two theta; PC4 is four theta. The ladder is 1, 2, 4 — m=3 sits at the noise floor.</a:t>
            </a:r>
          </a:p>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control result: a single probe closes 28% of the gap for direction but 74% for either scalar. Direction needs K of at least 2 and is solved by K around 4 — the causal echo of slide 3.</a:t>
            </a:r>
          </a:p>
          <a:p/>
          <a:p>
            <a:r>
              <a:t>Then the cost. To build a subspace big enough to steer the ring, you capture other kinematics with it. By dimension 16 EVERY cell in the matrix leaks. Dimension 4 to 8 is the usable operating point.</a:t>
            </a:r>
          </a:p>
          <a:p/>
          <a:p>
            <a:r>
              <a:t>TWO CELLS ARE BLANK, and that is a finding about the data. Speed and acceleration are mutually exclusive in every supplied dataset — no clip has both non-zero. So the coupling v = v0 + a t that would make speed-acceleration leakage interesting has been designed out of the stimulus set. Worth saying out loud rather than leaving a reader to wonder.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Wurgaft et al. warn that Euclidean steering goes off-manifold. Our data says that is NECESSARY BUT NOT SUFFICIENT.</a:t>
            </a:r>
          </a:p>
          <a:p/>
          <a:p>
            <a:r>
              <a:t>The tempting explanation — direction is more curved — does not survive measurement. Speed's manifold is curved too, 4.68 against 6.59, and both chords sit 80 to 120 times off manifold in every pair we tested. Yet the behavioural penalty appears only for direction.</a:t>
            </a:r>
          </a:p>
          <a:p/>
          <a:p>
            <a:r>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might expect the centre of the ring to be the stationary state: left plus right equals nothing. IT IS NOT. Speed survives completely, and so does the axis of motion. Only the direction bit is removed.</a:t>
            </a:r>
          </a:p>
          <a:p/>
          <a:p>
            <a:r>
              <a:t>So the model is holding: an object moving along this specific line, at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candidates. LAYERNORM IS NOT THE ANSWER — token norms and channel standard deviations sit within half a percent of the control, and only 0.6% of the edit lies along the all-ones direction that LayerNorm deletes.</a:t>
            </a:r>
          </a:p>
          <a:p/>
          <a:p>
            <a:r>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p>
            <a:r>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a periodic cubic spline through the per-value centroids and steer ALONG the curve. At the layer of the intervention this method is WORSE — 7.02 degrees against 5.32. Four blocks later the ordering flips hard.</a:t>
            </a:r>
          </a:p>
          <a:p/>
          <a:p>
            <a:r>
              <a:t>The reason is visible in the numbers. Multi-probe steering solves for probe readouts and OVERSHOOTS to do it — alignment 1.33, well past the unit norm of a natural representation. That excess is exactly what attention discards. The spline edit lands at 1.03 and is kept.</a:t>
            </a:r>
          </a:p>
          <a:p/>
          <a:p>
            <a:r>
              <a:t>Most telling: the spline puts LESS of itself in the readout subspace at injection, 0.09 against 0.32, yet survives far better. It is not pushing harder along the probe direction — it is moving the representation the way the network's own geometry moves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parallel to LLM interpretability, and it is worth saying where it comes from. Anthropic's Scaling Monosemanticity work — Templeton and colleagues, 2024 — steers Claude 3 Sonnet by CLAMPING a sparse-autoencoder feature's activation during the forward pass, typically to something like ten times its maximum observed value. Golden Gate Claude is that technique.</a:t>
            </a:r>
          </a:p>
          <a:p/>
          <a:p>
            <a:r>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p>
            <a:r>
              <a:t>THE RESULT: IT WORKS. At four blocks downstream, clamping more than doubles the retained effect over a one-shot edit — 0.79 against 0.36. Continuous feature clamping transfers from language models to a video world model without modification.</a:t>
            </a:r>
          </a:p>
          <a:p/>
          <a:p>
            <a:r>
              <a:t>TWO CAVEATS worth having ready.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p>
            <a:r>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p>
            <a:r>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pull this up if someone asks whether the off-manifold state is a noisy variant of a real one.</a:t>
            </a:r>
          </a:p>
          <a:p/>
          <a:p>
            <a:r>
              <a:t>THREE TESTS, AND THE INTUITIVE ONE FAILS.</a:t>
            </a:r>
          </a:p>
          <a:p/>
          <a:p>
            <a:r>
              <a:t>Test 1, the bootstrap tube: the chord sits 2.4 times outside the 95% tube at its worst point, and 51% of its length is outside. Real, but weaker than it sounds — the tube is about 38% of the ring radius, so 1,148 clips do not pin the manifold that tightly.</a:t>
            </a:r>
          </a:p>
          <a:p/>
          <a:p>
            <a:r>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p>
            <a:r>
              <a:t>Test 3, the radial shell, is decisive. In 64 dimensions the data occupies a shell, not a ball. Real clips sit at radius 15.8 minimum, 23.7 median. The midpoint sits at 5.1. ZERO of 1,148 clips are that close to the centre — z-score minus 4.1, and 0.32 times the radius of the closest real clip.</a:t>
            </a:r>
          </a:p>
          <a:p/>
          <a:p>
            <a:r>
              <a:t>So: the midpoint occupies a region no training clip occupies. Lead with 0-of-1148, not the tube.</a:t>
            </a:r>
          </a:p>
          <a:p/>
          <a:p>
            <a:r>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2"/>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Layer-wise linear probes on held-out direction values. Chance is 90°. The dotted line is what a perfect pixel tracker achieves on the same clips.</a:t>
            </a:r>
          </a:p>
        </p:txBody>
      </p:sp>
      <p:pic>
        <p:nvPicPr>
          <p:cNvPr id="7" name="Picture 6" descr="layer_sweep_direction.png"/>
          <p:cNvPicPr>
            <a:picLocks noChangeAspect="1"/>
          </p:cNvPicPr>
          <p:nvPr/>
        </p:nvPicPr>
        <p:blipFill>
          <a:blip r:embed="rId2"/>
          <a:stretch>
            <a:fillRect/>
          </a:stretch>
        </p:blipFill>
        <p:spPr>
          <a:xfrm>
            <a:off x="3054614" y="2633472"/>
            <a:ext cx="6082467"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BEST, LAYER 16</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2.57°</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leak-free salience pooling</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1.19°</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the encoder sits ~2× off it</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Direction costs twice the dimensions</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pic>
        <p:nvPicPr>
          <p:cNvPr id="7" name="Picture 6" descr="nullspace_combined.png"/>
          <p:cNvPicPr>
            <a:picLocks noChangeAspect="1"/>
          </p:cNvPicPr>
          <p:nvPr/>
        </p:nvPicPr>
        <p:blipFill>
          <a:blip r:embed="rId2"/>
          <a:stretch>
            <a:fillRect/>
          </a:stretch>
        </p:blipFill>
        <p:spPr>
          <a:xfrm>
            <a:off x="2952152" y="2633472"/>
            <a:ext cx="628738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142 dims</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to lose half the signal</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SPEED</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69 dims</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to lose half</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ACCELERATION</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67 dims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to lose half</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RANDOM CONTROL</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flat</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0.99 → 0.99 throughout</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2"/>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Control and specificity trade off</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Multi-probe subspace steering: stack K probe readouts, solve for the coordinates that make them all read the target. Each cell is drift in another variable, against that probe's own error on unmodified clips.</a:t>
            </a:r>
          </a:p>
        </p:txBody>
      </p:sp>
      <p:pic>
        <p:nvPicPr>
          <p:cNvPr id="7" name="Picture 6" descr="leakage_matrix.png"/>
          <p:cNvPicPr>
            <a:picLocks noChangeAspect="1"/>
          </p:cNvPicPr>
          <p:nvPr/>
        </p:nvPicPr>
        <p:blipFill>
          <a:blip r:embed="rId2"/>
          <a:stretch>
            <a:fillRect/>
          </a:stretch>
        </p:blipFill>
        <p:spPr>
          <a:xfrm>
            <a:off x="2878277" y="2633472"/>
            <a:ext cx="64351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needs a coordinated subspace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LEAKAGE AT DIM 4</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0.28×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below the probe's own noise</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2"/>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2"/>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2"/>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on-manifold edit survives 3× better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steered to the same held-out targets, injected at layer 16, propagated through the same blocks, scored by alignment with the intended readout.</a:t>
            </a:r>
          </a:p>
        </p:txBody>
      </p:sp>
      <p:pic>
        <p:nvPicPr>
          <p:cNvPr id="7" name="Picture 6" descr="d9_retention.png"/>
          <p:cNvPicPr>
            <a:picLocks noChangeAspect="1"/>
          </p:cNvPicPr>
          <p:nvPr/>
        </p:nvPicPr>
        <p:blipFill>
          <a:blip r:embed="rId2"/>
          <a:stretch>
            <a:fillRect/>
          </a:stretch>
        </p:blipFill>
        <p:spPr>
          <a:xfrm>
            <a:off x="2349347" y="2633472"/>
            <a:ext cx="749300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MULTI-PROBE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25% retained</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+1.33 → +0.33</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MANIFOLD SPLINE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76% retained</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+1.03 → +0.78</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IN FEATURE SPACE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multi-probe wins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5.32° vs 7.02°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FOUR BLOCKS LATER</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manifold wins</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ordering flips</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2"/>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gridCol w="4020159"/>
                <a:gridCol w="4020159"/>
              </a:tblGrid>
              <a:tr h="391885">
                <a:tc>
                  <a:txBody>
                    <a:bodyPr wrap="square"/>
                    <a:lstStyle/>
                    <a:p>
                      <a:r>
                        <a:rPr sz="850" b="0" i="0" spc="120">
                          <a:solidFill>
                            <a:srgbClr val="71757B"/>
                          </a:solidFill>
                          <a:latin typeface="Menlo"/>
                        </a:rPr>
                        <a:t/>
                      </a:r>
                    </a:p>
                  </a:txBody>
                  <a:tcPr marL="128016" marT="54864" marB="54864" anchor="ctr">
                    <a:solidFill>
                      <a:srgbClr val="FFFFFF"/>
                    </a:solidFill>
                  </a:tcPr>
                </a:tc>
                <a:tc>
                  <a:txBody>
                    <a:bodyPr wrap="square"/>
                    <a:lstStyle/>
                    <a:p>
                      <a:r>
                        <a:rPr sz="850" b="0" i="0" spc="120">
                          <a:solidFill>
                            <a:srgbClr val="71757B"/>
                          </a:solidFill>
                          <a:latin typeface="Menlo"/>
                        </a:rPr>
                        <a:t>MULTI-PROBE SUBSPACE</a:t>
                      </a:r>
                    </a:p>
                  </a:txBody>
                  <a:tcPr marL="128016" marT="54864" marB="54864" anchor="ctr">
                    <a:solidFill>
                      <a:srgbClr val="FFFFFF"/>
                    </a:solidFill>
                  </a:tcPr>
                </a:tc>
                <a:tc>
                  <a:txBody>
                    <a:bodyPr wrap="square"/>
                    <a:lstStyle/>
                    <a:p>
                      <a:r>
                        <a:rPr sz="850" b="0" i="0" spc="120">
                          <a:solidFill>
                            <a:srgbClr val="71757B"/>
                          </a:solidFill>
                          <a:latin typeface="Menlo"/>
                        </a:rPr>
                        <a:t>SPLINE / MANIFOLD</a:t>
                      </a:r>
                    </a:p>
                  </a:txBody>
                  <a:tcPr marL="128016" marT="54864" marB="54864" anchor="ctr">
                    <a:solidFill>
                      <a:srgbClr val="FFFFFF"/>
                    </a:solidFill>
                  </a:tcPr>
                </a:tc>
              </a:tr>
              <a:tr h="391885">
                <a:tc>
                  <a:txBody>
                    <a:bodyPr wrap="square"/>
                    <a:lstStyle/>
                    <a:p>
                      <a:r>
                        <a:rPr sz="1050" b="1" i="0">
                          <a:solidFill>
                            <a:srgbClr val="17191C"/>
                          </a:solidFill>
                          <a:latin typeface="Avenir Next"/>
                        </a:rPr>
                        <a:t>endpoint accuracy</a:t>
                      </a:r>
                    </a:p>
                  </a:txBody>
                  <a:tcPr marL="128016" marT="54864" marB="54864" anchor="ctr">
                    <a:solidFill>
                      <a:srgbClr val="FFFFFF"/>
                    </a:solidFill>
                  </a:tcPr>
                </a:tc>
                <a:tc>
                  <a:txBody>
                    <a:bodyPr wrap="square"/>
                    <a:lstStyle/>
                    <a:p>
                      <a:r>
                        <a:rPr sz="1050" b="0" i="0">
                          <a:solidFill>
                            <a:srgbClr val="1E7A4E"/>
                          </a:solidFill>
                          <a:latin typeface="Avenir Next"/>
                        </a:rPr>
                        <a:t>better — 5.32°</a:t>
                      </a:r>
                    </a:p>
                  </a:txBody>
                  <a:tcPr marL="128016" marT="54864" marB="54864" anchor="ctr">
                    <a:solidFill>
                      <a:srgbClr val="FFFFFF"/>
                    </a:solidFill>
                  </a:tcPr>
                </a:tc>
                <a:tc>
                  <a:txBody>
                    <a:bodyPr wrap="square"/>
                    <a:lstStyle/>
                    <a:p>
                      <a:r>
                        <a:rPr sz="1050" b="0" i="0">
                          <a:solidFill>
                            <a:srgbClr val="71757B"/>
                          </a:solidFill>
                          <a:latin typeface="Avenir Next"/>
                        </a:rPr>
                        <a:t>7.02°</a:t>
                      </a:r>
                    </a:p>
                  </a:txBody>
                  <a:tcPr marL="128016" marT="54864" marB="54864" anchor="ctr">
                    <a:solidFill>
                      <a:srgbClr val="FFFFFF"/>
                    </a:solidFill>
                  </a:tcPr>
                </a:tc>
              </a:tr>
              <a:tr h="391885">
                <a:tc>
                  <a:txBody>
                    <a:bodyPr wrap="square"/>
                    <a:lstStyle/>
                    <a:p>
                      <a:r>
                        <a:rPr sz="1050" b="1" i="0">
                          <a:solidFill>
                            <a:srgbClr val="17191C"/>
                          </a:solidFill>
                          <a:latin typeface="Avenir Next"/>
                        </a:rPr>
                        <a:t>survives propagation</a:t>
                      </a:r>
                    </a:p>
                  </a:txBody>
                  <a:tcPr marL="128016" marT="54864" marB="54864" anchor="ctr">
                    <a:solidFill>
                      <a:srgbClr val="FFFFFF"/>
                    </a:solidFill>
                  </a:tcPr>
                </a:tc>
                <a:tc>
                  <a:txBody>
                    <a:bodyPr wrap="square"/>
                    <a:lstStyle/>
                    <a:p>
                      <a:r>
                        <a:rPr sz="1050" b="0" i="0">
                          <a:solidFill>
                            <a:srgbClr val="B03A2E"/>
                          </a:solidFill>
                          <a:latin typeface="Avenir Next"/>
                        </a:rPr>
                        <a:t>25% at four blocks</a:t>
                      </a:r>
                    </a:p>
                  </a:txBody>
                  <a:tcPr marL="128016" marT="54864" marB="54864" anchor="ctr">
                    <a:solidFill>
                      <a:srgbClr val="FFFFFF"/>
                    </a:solidFill>
                  </a:tcPr>
                </a:tc>
                <a:tc>
                  <a:txBody>
                    <a:bodyPr wrap="square"/>
                    <a:lstStyle/>
                    <a:p>
                      <a:r>
                        <a:rPr sz="1050" b="0" i="0">
                          <a:solidFill>
                            <a:srgbClr val="1E7A4E"/>
                          </a:solidFill>
                          <a:latin typeface="Avenir Next"/>
                        </a:rPr>
                        <a:t>76%</a:t>
                      </a:r>
                    </a:p>
                  </a:txBody>
                  <a:tcPr marL="128016" marT="54864" marB="54864" anchor="ctr">
                    <a:solidFill>
                      <a:srgbClr val="FFFFFF"/>
                    </a:solidFill>
                  </a:tcPr>
                </a:tc>
              </a:tr>
              <a:tr h="391885">
                <a:tc>
                  <a:txBody>
                    <a:bodyPr wrap="square"/>
                    <a:lstStyle/>
                    <a:p>
                      <a:r>
                        <a:rPr sz="1050" b="1" i="0">
                          <a:solidFill>
                            <a:srgbClr val="17191C"/>
                          </a:solidFill>
                          <a:latin typeface="Avenir Next"/>
                        </a:rPr>
                        <a:t>intermediate states</a:t>
                      </a:r>
                    </a:p>
                  </a:txBody>
                  <a:tcPr marL="128016" marT="54864" marB="54864" anchor="ctr">
                    <a:solidFill>
                      <a:srgbClr val="FFFFFF"/>
                    </a:solidFill>
                  </a:tcPr>
                </a:tc>
                <a:tc>
                  <a:txBody>
                    <a:bodyPr wrap="square"/>
                    <a:lstStyle/>
                    <a:p>
                      <a:r>
                        <a:rPr sz="1050" b="0" i="0">
                          <a:solidFill>
                            <a:srgbClr val="B03A2E"/>
                          </a:solidFill>
                          <a:latin typeface="Avenir Next"/>
                        </a:rPr>
                        <a:t>collapse on closed geometry</a:t>
                      </a:r>
                    </a:p>
                  </a:txBody>
                  <a:tcPr marL="128016" marT="54864" marB="54864" anchor="ctr">
                    <a:solidFill>
                      <a:srgbClr val="FFFFFF"/>
                    </a:solidFill>
                  </a:tcPr>
                </a:tc>
                <a:tc>
                  <a:txBody>
                    <a:bodyPr wrap="square"/>
                    <a:lstStyle/>
                    <a:p>
                      <a:r>
                        <a:rPr sz="1050" b="0" i="0">
                          <a:solidFill>
                            <a:srgbClr val="1E7A4E"/>
                          </a:solidFill>
                          <a:latin typeface="Avenir Next"/>
                        </a:rPr>
                        <a:t>stay valid</a:t>
                      </a:r>
                    </a:p>
                  </a:txBody>
                  <a:tcPr marL="128016" marT="54864" marB="54864" anchor="ctr">
                    <a:solidFill>
                      <a:srgbClr val="FFFFFF"/>
                    </a:solidFill>
                  </a:tcPr>
                </a:tc>
              </a:tr>
              <a:tr h="391885">
                <a:tc>
                  <a:txBody>
                    <a:bodyPr wrap="square"/>
                    <a:lstStyle/>
                    <a:p>
                      <a:r>
                        <a:rPr sz="1050" b="1" i="0">
                          <a:solidFill>
                            <a:srgbClr val="17191C"/>
                          </a:solidFill>
                          <a:latin typeface="Avenir Next"/>
                        </a:rPr>
                        <a:t>what it needs</a:t>
                      </a:r>
                    </a:p>
                  </a:txBody>
                  <a:tcPr marL="128016" marT="54864" marB="54864" anchor="ctr">
                    <a:solidFill>
                      <a:srgbClr val="FFFFFF"/>
                    </a:solidFill>
                  </a:tcPr>
                </a:tc>
                <a:tc>
                  <a:txBody>
                    <a:bodyPr wrap="square"/>
                    <a:lstStyle/>
                    <a:p>
                      <a:r>
                        <a:rPr sz="1050" b="0" i="0">
                          <a:solidFill>
                            <a:srgbClr val="71757B"/>
                          </a:solidFill>
                          <a:latin typeface="Avenir Next"/>
                        </a:rPr>
                        <a:t>K fitted probes</a:t>
                      </a:r>
                    </a:p>
                  </a:txBody>
                  <a:tcPr marL="128016" marT="54864" marB="54864" anchor="ctr">
                    <a:solidFill>
                      <a:srgbClr val="FFFFFF"/>
                    </a:solidFill>
                  </a:tcPr>
                </a:tc>
                <a:tc>
                  <a:txBody>
                    <a:bodyPr wrap="square"/>
                    <a:lstStyle/>
                    <a:p>
                      <a:r>
                        <a:rPr sz="1050" b="0" i="0">
                          <a:solidFill>
                            <a:srgbClr val="71757B"/>
                          </a:solidFill>
                          <a:latin typeface="Avenir Next"/>
                        </a:rPr>
                        <a:t>per-value centroids only</a:t>
                      </a:r>
                    </a:p>
                  </a:txBody>
                  <a:tcPr marL="128016" marT="54864" marB="54864" anchor="ctr">
                    <a:solidFill>
                      <a:srgbClr val="FFFFFF"/>
                    </a:solidFill>
                  </a:tcPr>
                </a:tc>
              </a:tr>
              <a:tr h="391885">
                <a:tc>
                  <a:txBody>
                    <a:bodyPr wrap="square"/>
                    <a:lstStyle/>
                    <a:p>
                      <a:r>
                        <a:rPr sz="1050" b="1" i="0">
                          <a:solidFill>
                            <a:srgbClr val="17191C"/>
                          </a:solidFill>
                          <a:latin typeface="Avenir Next"/>
                        </a:rPr>
                        <a:t>best for</a:t>
                      </a:r>
                    </a:p>
                  </a:txBody>
                  <a:tcPr marL="128016" marT="54864" marB="54864" anchor="ctr">
                    <a:solidFill>
                      <a:srgbClr val="FFFFFF"/>
                    </a:solidFill>
                  </a:tcPr>
                </a:tc>
                <a:tc>
                  <a:txBody>
                    <a:bodyPr wrap="square"/>
                    <a:lstStyle/>
                    <a:p>
                      <a:r>
                        <a:rPr sz="1050" b="0" i="0">
                          <a:solidFill>
                            <a:srgbClr val="71757B"/>
                          </a:solidFill>
                          <a:latin typeface="Avenir Next"/>
                        </a:rPr>
                        <a:t>monotone scalars</a:t>
                      </a:r>
                    </a:p>
                  </a:txBody>
                  <a:tcPr marL="128016" marT="54864" marB="54864" anchor="ctr">
                    <a:solidFill>
                      <a:srgbClr val="FFFFFF"/>
                    </a:solidFill>
                  </a:tcPr>
                </a:tc>
                <a:tc>
                  <a:txBody>
                    <a:bodyPr wrap="square"/>
                    <a:lstStyle/>
                    <a:p>
                      <a:r>
                        <a:rPr sz="1050" b="0" i="0">
                          <a:solidFill>
                            <a:srgbClr val="71757B"/>
                          </a:solidFill>
                          <a:latin typeface="Avenir Next"/>
                        </a:rPr>
                        <a:t>cyclic variables</a:t>
                      </a:r>
                    </a:p>
                  </a:txBody>
                  <a:tcPr marL="128016" marT="54864" marB="54864" anchor="ctr">
                    <a:solidFill>
                      <a:srgbClr val="FFFFFF"/>
                    </a:solidFill>
                  </a:tcPr>
                </a:tc>
              </a:tr>
              <a:tr h="391885">
                <a:tc>
                  <a:txBody>
                    <a:bodyPr wrap="square"/>
                    <a:lstStyle/>
                    <a:p>
                      <a:r>
                        <a:rPr sz="1050" b="1" i="0">
                          <a:solidFill>
                            <a:srgbClr val="17191C"/>
                          </a:solidFill>
                          <a:latin typeface="Avenir Next"/>
                        </a:rPr>
                        <a:t>main failure</a:t>
                      </a:r>
                    </a:p>
                  </a:txBody>
                  <a:tcPr marL="128016" marT="54864" marB="54864" anchor="ctr">
                    <a:solidFill>
                      <a:srgbClr val="FFFFFF"/>
                    </a:solidFill>
                  </a:tcPr>
                </a:tc>
                <a:tc>
                  <a:txBody>
                    <a:bodyPr wrap="square"/>
                    <a:lstStyle/>
                    <a:p>
                      <a:r>
                        <a:rPr sz="1050" b="0" i="0">
                          <a:solidFill>
                            <a:srgbClr val="B03A2E"/>
                          </a:solidFill>
                          <a:latin typeface="Avenir Next"/>
                        </a:rPr>
                        <a:t>minimises the wrong norm</a:t>
                      </a:r>
                    </a:p>
                  </a:txBody>
                  <a:tcPr marL="128016" marT="54864" marB="54864" anchor="ctr">
                    <a:solidFill>
                      <a:srgbClr val="FFFFFF"/>
                    </a:solidFill>
                  </a:tcPr>
                </a:tc>
                <a:tc>
                  <a:txBody>
                    <a:bodyPr wrap="square"/>
                    <a:lstStyle/>
                    <a:p>
                      <a:r>
                        <a:rPr sz="1050" b="0" i="0">
                          <a:solidFill>
                            <a:srgbClr val="71757B"/>
                          </a:solidFill>
                          <a:latin typeface="Avenir Next"/>
                        </a:rPr>
                        <a:t>undershoots the target</a:t>
                      </a:r>
                    </a:p>
                  </a:txBody>
                  <a:tcPr marL="128016" marT="54864" marB="54864" anchor="ctr">
                    <a:solidFill>
                      <a:srgbClr val="FFFFFF"/>
                    </a:solidFill>
                  </a:tcPr>
                </a:tc>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2"/>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