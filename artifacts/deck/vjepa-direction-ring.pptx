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0045"/>
  </p:normalViewPr>
  <p:slideViewPr>
    <p:cSldViewPr snapToGrid="0" snapToObjects="1">
      <p:cViewPr varScale="1">
        <p:scale>
          <a:sx n="124" d="100"/>
          <a:sy n="124" d="100"/>
        </p:scale>
        <p:origin x="640" y="168"/>
      </p:cViewPr>
      <p:guideLst>
        <p:guide orient="horz" pos="2160"/>
        <p:guide pos="2880"/>
      </p:guideLst>
    </p:cSldViewPr>
  </p:slideViewPr>
  <p:notesTextViewPr>
    <p:cViewPr>
      <p:scale>
        <a:sx n="100" d="100"/>
        <a:sy n="100" d="100"/>
      </p:scale>
      <p:origin x="0" y="-67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66607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sentences to set the hook. We already know video world models learn physics. The open question is how they ORGANISE it — because that decides whether we can control them.</a:t>
            </a:r>
          </a:p>
          <a:p>
            <a:endParaRPr/>
          </a:p>
          <a:p>
            <a:r>
              <a:t>The punchline of the next fifteen minutes: speed and acceleration behave like the scalars they are. Direction is a closed ring with a real second harmonic. Steer it in a straight line and the model represents a physical paradox — and its attention mechanism throws the edit away within four blocks.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Layer-wise probing for all three variables. Chance for direction is 90 degrees.</a:t>
            </a:r>
          </a:p>
          <a:p/>
          <a:p>
            <a:r>
              <a:t>THE HEADLINE. Everything is readable after ONE attention block. Direction goes from 66.9 degrees at layer 0 to 11.4 at layer 1; speed from 0.82 to 0.10; acceleration from 2.14 to 0.30. The paper reports direction emerging only at a sharp mid-depth transition. Here there is no step, just a steep rise and a glide.</a:t>
            </a:r>
          </a:p>
          <a:p/>
          <a:p>
            <a:r>
              <a:t>THE CONTROL that makes that a finding rather than an artefact: the worry is that the probe reads POSITION rather than direction. It does not — the frame-0 centroid alone scores 86.3 degrees against a chance of 90. So this is real, and most likely a dataset-simplicity effect: one high-contrast disk on an empty field.</a:t>
            </a:r>
          </a:p>
          <a:p/>
          <a:p>
            <a:r>
              <a:t>IF ASKED WHERE EACH VARIABLE 'BECOMES AVAILABLE': be careful with thresholds. R-squared clears 0.95 at layer 1 for both scalars and layer 4 for direction, but R-squared saturates far too early to be informative — at layer 4 direction still has twice its eventual error. On the native metric, the scalars are within 2x of their best at layer 1 and direction at layer 4; within 1.2x at layers 11, 11 and 13. Same ordering, but it says where each variable is genuinely finished.</a:t>
            </a:r>
          </a:p>
          <a:p/>
          <a:p>
            <a:r>
              <a:t>TWO THINGS TO FLAG. The tracker oracle beats every encoder probe — 1.19 degrees against 2.57 — so V-JEPA loses roughly half the recoverable signal. And pooling moves the apparent best layer by up to six layers, so a single-pooling curve would confound emergence with pooling dilution. A third, tracker-selected pooling exists but is excluded from interpretation: its mask is built from the trajectory, which is the label.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Removing the probe subspace drives direction from R-squared 0.99 to 0.01; removing the same number of random directions does nothing. THAT contrast is the finding — all three variables are carried by a highly redundant population code.</a:t>
            </a:r>
          </a:p>
          <a:p>
            <a:endParaRPr/>
          </a:p>
          <a:p>
            <a:r>
              <a:t>NOW THE CAREFUL PART, and volunteer it before anyone asks. Each INLP round removes one probe's readout subspace, and that subspace's rank is set by the TARGET, not by the representation: two dimensions for direction's sin-cos pair, one for a scalar. So direction spends dimensions twice as fast per round as pure bookkeeping.</a:t>
            </a:r>
          </a:p>
          <a:p>
            <a:endParaRPr/>
          </a:p>
          <a:p>
            <a:r>
              <a:t>Counted in ROUNDS — independent readouts extractable before the signal dies — the three are essentially equal: 71, 69, 67.</a:t>
            </a:r>
          </a:p>
          <a:p>
            <a:endParaRPr/>
          </a:p>
          <a:p>
            <a:r>
              <a:t>The decisive control is the right panel. Give direction a ONE-dimensional target on the same activations: sin theta alone costs 76 dimensions, cos theta alone 54 — squarely in the scalars' range of 67 to 69. The 142 is just 71 rounds times two.</a:t>
            </a:r>
          </a:p>
          <a:p>
            <a:endParaRPr/>
          </a:p>
          <a:p>
            <a:r>
              <a:t>So do NOT say direction is twice as redundant. Say: all three are equally redundant, and direction's readout is inherently two-dimensional, which is why controlling it costs twice the dimensions per readout. That framing sets up slide 5 exactly — a single probe cannot steer a two-dimensional readout.</a:t>
            </a:r>
          </a:p>
          <a:p>
            <a:endParaRPr/>
          </a:p>
          <a:p>
            <a:r>
              <a:t>One real asymmetry does survive, at the tail rather than the midpoint: reaching 10 percent of the original R-squared takes 133 rounds for direction against 114 and 103 for the scalars. About 1.2 times, not 2. Direction's signal persists a little longer into the low-signal regime.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principal component is almost purely one harmonic. PC1-2 are cos and sin of theta; PC3 is two theta; PC4 is four theta. The ladder is 1, 2, 4 — m=3 sits at the noise floor.</a:t>
            </a:r>
          </a:p>
          <a:p>
            <a:endParaRPr/>
          </a:p>
          <a:p>
            <a:r>
              <a:t>The 180-degree flip correlations say what the higher harmonics ARE. PC1 anti-correlates at -0.97: a direction code. PC3 and PC4 are invariant at +0.95 and +0.97: they encode the AXIS of motion, not which way along it. That is the direction-versus-orientation distinction from visual neuroscience, appearing unprompted. And the network builds it — the pixel trajectory is 97% pure first harmonic.</a:t>
            </a:r>
          </a:p>
          <a:p>
            <a:endParaRPr/>
          </a:p>
          <a:p>
            <a:r>
              <a:t>DO NOT claim this explains the dimensionality. It is tempting and it is wrong: PC3 alone reads direction at 99.8 degrees — worse than chance — and PC1-4 together only reach 11.1 against 2.57 for the full space. The harmonics explain the SHAPE, a non-planar closed loop, which is what sets the trap for linear steering. The dimensionality of slide 3 is spent suppressing nuisance.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paper's steering experiment, and the evaluation protocol is the part worth spelling out.</a:t>
            </a:r>
          </a:p>
          <a:p>
            <a:endParaRPr/>
          </a:p>
          <a:p>
            <a:r>
              <a:t>THREE INDEPENDENT HELD-OUT AXES. The evaluation probe is never one of the K that built the steering subspace, and it is fitted on clips disjoint from all of them. The clips being steered carry target values never seen during fitting. Without the probe split, 'steering worked' would only mean the intervention satisfied the very equations it solved.</a:t>
            </a:r>
          </a:p>
          <a:p>
            <a:endParaRPr/>
          </a:p>
          <a:p>
            <a:r>
              <a:t>LEFT PANEL, the result. A single probe closes 28 percent of the floor-to-ceiling gap for direction but 74 percent for either scalar. Direction needs K of at least two and is essentially solved by K around four. That is the causal counterpart of slide 3: a 2-dimensional readout cannot be driven along a single direction.</a:t>
            </a:r>
          </a:p>
          <a:p>
            <a:endParaRPr/>
          </a:p>
          <a:p>
            <a:r>
              <a:t>MIDDLE AND RIGHT, the cost. To build a subspace big enough to steer the ring you capture other kinematics with it. By dimension 16 every cell in the matrix leaks. Dimension 4 to 8 is the usable operating point.</a:t>
            </a:r>
          </a:p>
          <a:p>
            <a:endParaRPr/>
          </a:p>
          <a:p>
            <a:r>
              <a:t>TWO CELLS ARE BLANK, and that is a finding about the data. Speed and acceleration are mutually exclusive in every supplied dataset — no clip has both non-zero — so the coupling v = v0 + a t that would make that leakage interesting has been designed out of the stimulus set.</a:t>
            </a:r>
          </a:p>
          <a:p>
            <a:endParaRPr/>
          </a:p>
          <a:p>
            <a:r>
              <a:t>If asked what the intervention actually solves: minimise the L2 norm of delta-x subject to the probes reading the target. That is the Moore-Penrose minimum-norm edit, verified against a direct pseudo-inverse to three times ten to the minus fourteen. Smallest EUCLIDEAN step — which is exactly the setup for Act 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Wurgaft</a:t>
            </a:r>
            <a:r>
              <a:rPr dirty="0"/>
              <a:t> et al. warn that Euclidean steering goes off-manifold. Our data says that is NECESSARY BUT NOT SUFFICIENT.</a:t>
            </a:r>
          </a:p>
          <a:p>
            <a:endParaRPr dirty="0"/>
          </a:p>
          <a:p>
            <a:r>
              <a:rPr dirty="0"/>
              <a:t>The tempting explanation — direction is more curved — does not survive measurement. Speed's manifold is curved too, 4.68 against 6.59, and both chords sit 80 to 120 times off manifold in every pair we tested. Yet the </a:t>
            </a:r>
            <a:r>
              <a:rPr dirty="0" err="1"/>
              <a:t>behavioural</a:t>
            </a:r>
            <a:r>
              <a:rPr dirty="0"/>
              <a:t> penalty appears only for direction.</a:t>
            </a:r>
          </a:p>
          <a:p>
            <a:endParaRPr dirty="0"/>
          </a:p>
          <a:p>
            <a:r>
              <a:rPr dirty="0"/>
              <a:t>What separates them is TOPOLOGY. Speed's curve is open: the chord leaves it geometrically, but every point along it still decodes to a sensible intermediate speed. Direction's ring is closed, so a chord must cross the interior — a region that corresponds to no direction at all. Off-manifold only matters when the region you land in is semantically empty.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might expect the centre of the ring to be the stationary state: left plus right equals nothing. IT IS NOT. The axis of motion survives at full strength and speed survives in degraded form. Only the direction bit is removed outright.</a:t>
            </a:r>
          </a:p>
          <a:p/>
          <a:p>
            <a:r>
              <a:t>BE PRECISE ABOUT SPEED, because the honest version is still striking and the sloppy version will get caught. The population MEAN is flat along the whole chord — 2.10 to 2.17 metres per second. But per-clip error is not: it runs 1.1 times the probe's own baseline at the start, 2.2 times at the midpoint, 4.1 times at the far end. So speed is DEGRADED, not untouched. At 2.2 times the error is still 0.14 metres per second on a range of 0.25 to 4 — the state plainly still encodes a speed. Direction, by contrast, reaches ZERO information.</a:t>
            </a:r>
          </a:p>
          <a:p/>
          <a:p>
            <a:r>
              <a:t>So the model is holding: an object moving along this specific line, at roughly 2.1 metres per second, with no fact about which of the two ways it is going. No clip in the dataset can be in that state.</a:t>
            </a:r>
          </a:p>
          <a:p/>
          <a:p>
            <a:r>
              <a:t>And it falls straight out of slide 4. m=1 is anti-symmetric under a 180-degree flip, so the two endpoints cancel exactly at the midpoint. m=2 is invariant, so the axis rides through untouched. Speed lives in neither harmonic — it rides in the residual and gets knocked about, but nothing cancels it. That is also why the collapse bottoms out precisely at t = 0.5.</a:t>
            </a:r>
          </a:p>
          <a:p/>
          <a:p>
            <a:r>
              <a:t>This is the concrete version of 'unnatural output': not noise, but a structured, physically impossible state.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Three candidates. LAYERNORM IS NOT THE ANSWER — token norms and channel standard deviations sit within half a percent of the control, and only 0.6% of the edit lies along the all-ones direction that </a:t>
            </a:r>
            <a:r>
              <a:rPr dirty="0" err="1"/>
              <a:t>LayerNorm</a:t>
            </a:r>
            <a:r>
              <a:rPr dirty="0"/>
              <a:t> deletes.</a:t>
            </a:r>
          </a:p>
          <a:p>
            <a:endParaRPr dirty="0"/>
          </a:p>
          <a:p>
            <a:r>
              <a:rPr dirty="0"/>
              <a:t>The substantive result is that THE EDIT IS NOT REMOVED, IT IS ROTATED. 69% of the perturbation survives four blocks, while the component that points along the direction readout keeps only 32%. The network turns the intervention into something that no longer means direction.</a:t>
            </a:r>
          </a:p>
          <a:p>
            <a:endParaRPr dirty="0"/>
          </a:p>
          <a:p>
            <a:r>
              <a:rPr dirty="0"/>
              <a:t>Splitting by half-block: ATTENTION ACCOUNTS FOR 77% of the decay, concentrated in blocks 17 and 18. So the MLP is NOT acting as an error-correcting projection back onto the data distribution — that hypothesis predicts the opposite split. A uniform edit is invisible to the token-relative computation attention actually does.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strongest result in the deck, and it is the one that answers Wurgaft directly.</a:t>
            </a:r>
          </a:p>
          <a:p/>
          <a:p>
            <a:r>
              <a:t>EVERYTHING SO FAR HAS READ A PROBE on a downstream encoder layer — so it speaks about the REPRESENTATION. Their thesis is about BEHAVIOUR. For a JEPA the nearest thing to behaviour is what the predictor forecasts, and this checkpoint ships a driveable one.</a:t>
            </a:r>
          </a:p>
          <a:p/>
          <a:p>
            <a:r>
              <a:t>SETUP. Inject at layer 16, propagate through all 24 blocks, then ask the predictor to forecast temporal blocks four to seven from blocks zero to three. A probe fitted on UNSTEERED forecasts reads it. A change means the model's own forward prediction moved.</a:t>
            </a:r>
          </a:p>
          <a:p/>
          <a:p>
            <a:r>
              <a:t>THE RESULT. Unsteered, the forecast encodes the clip's own direction at 6.5 degrees, so the forecast is readable — the experiment needs that. Multi-probe steering closes 6.6 PERCENT of the gap: the forecast still encodes the ORIGINAL motion, alignment 0.83. The model goes on predicting the motion it was always going to predict. The spline closes 89 PERCENT — the forecast now encodes the TARGET at alignment 0.96, no longer the original, and certainty rises to 0.999.</a:t>
            </a:r>
          </a:p>
          <a:p/>
          <a:p>
            <a:r>
              <a:t>MAGNITUDE CONTROL, right panel. Scaling the Euclidean edit does help here, unlike retention on the previous slide where bigger was worse. But at MATCHED perturbation norm it reaches 38 percent against the spline's 89 — a 2.3 times difference in behavioural effect.</a:t>
            </a:r>
          </a:p>
          <a:p/>
          <a:p>
            <a:r>
              <a:t>THE LINE TO LAND: multi-probe steering satisfies every probe you point at it while leaving the model's forecast almost untouched. SATISFYING A PROBE IS NOT THE SAME AS STEERING A WORLD MODEL.</a:t>
            </a:r>
          </a:p>
          <a:p/>
          <a:p>
            <a:r>
              <a:t>CAVEAT to volunteer: 'behaviour' here is still a latent forecast read by a probe, not decoded pixels. The predictor forecasts encoder-space latents. So this closes the gap between representation and prediction, but not between prediction and rendered output.</a:t>
            </a:r>
          </a:p>
          <a:p/>
          <a:p>
            <a:r>
              <a:t>The previous slide's retention result — 76 against 25 percent — still stands and is about preservation. This one is different in kind: it is about what the model does next.</a:t>
            </a:r>
          </a:p>
          <a:p/>
          <a:p>
            <a:r>
              <a:t>IF ASKED ABOUT THE CEILING: it is the control arm itself — the same probe, the same held-out-value test clips, reading each clip's OWN label, at 6.5 degrees. An earlier draft quoted 11.1, which came from the alpha-selection fold on train values and was not comparable. Correcting it moves the spline from 95 percent of the gap to 89. The finding does not change; the arithmetic is now consistent.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the direct parallel to LLM interpretability, and it is worth saying where it comes from. </a:t>
            </a:r>
            <a:r>
              <a:rPr dirty="0" err="1"/>
              <a:t>Anthropic's</a:t>
            </a:r>
            <a:r>
              <a:rPr dirty="0"/>
              <a:t> Scaling </a:t>
            </a:r>
            <a:r>
              <a:rPr dirty="0" err="1"/>
              <a:t>Monosemanticity</a:t>
            </a:r>
            <a:r>
              <a:rPr dirty="0"/>
              <a:t> work — Templeton and colleagues, 2024 — steers Claude 3 Sonnet by CLAMPING a sparse-autoencoder feature's activation during the forward pass, typically to something like ten times its maximum observed value. Golden Gate Claude is that technique.</a:t>
            </a:r>
          </a:p>
          <a:p>
            <a:endParaRPr dirty="0"/>
          </a:p>
          <a:p>
            <a:r>
              <a:rPr dirty="0"/>
              <a:t>BE PRECISE ABOUT THE ADAPTATION. They clamp at one layer across token positions through a generation. A video encoder has no generation to run along, so the natural analogue of 'keep asserting it as computation proceeds' is across BLOCKS. Same idea, different axis of repetition. It is an adaptation, not a replication.</a:t>
            </a:r>
          </a:p>
          <a:p>
            <a:endParaRPr dirty="0"/>
          </a:p>
          <a:p>
            <a:r>
              <a:rPr dirty="0"/>
              <a:t>THE RESULT: IT WORKS. At four blocks downstream, clamping more than doubles the retained effect over a one-shot edit — 0.79 against 0.36. Continuous feature clamping transfers from language models to a video world model without modification.</a:t>
            </a:r>
          </a:p>
          <a:p>
            <a:endParaRPr dirty="0"/>
          </a:p>
          <a:p>
            <a:r>
              <a:rPr dirty="0"/>
              <a:t>TWO CAVEATS First, re-injecting the same delta four times is NOT clamping — it accumulates, drives alignment to 1.30, past the norm of any natural representation, at four times the perturbation cost. True clamping applies the minimum-norm correction each block and is self-limiting. Second, the comparison has to match subspace size: clamping with a single probe reaches only 0.54, so a K=1 clamp against a K=16 one-shot edit would have made clamping look worse than it is.</a:t>
            </a:r>
          </a:p>
          <a:p>
            <a:endParaRPr dirty="0"/>
          </a:p>
          <a:p>
            <a:r>
              <a:rPr dirty="0"/>
              <a:t>AND THE PUNCHLINE. Clamping costs four interventions and a total perturbation of 20.2 to reach 0.79. The single on-manifold spline edit costs 22.1 — essentially the same — and reaches 0.88, and by eight blocks it leads two to one. So: you can fight the attention mechanism at every layer, or you can make one edit it does not want to undo.</a:t>
            </a:r>
          </a:p>
          <a:p>
            <a:endParaRPr dirty="0"/>
          </a:p>
          <a:p>
            <a:r>
              <a:rPr dirty="0"/>
              <a:t>One thing that cuts against intuition: the spline is the LARGER one-shot perturbation, 22.1 against 8.5. It is not about moving less. It is about moving along a direction the network maintains.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multi-probe intervention solves: minimise the L2 norm of delta-x subject to W times (x plus delta-x) plus b equals y. That is the Moore-Penrose solution, which I verified against a direct pseudo-inverse to three times ten to the minus fourteen. It is the SMALLEST EUCLIDEAN STEP satisfying K linear constraints.</a:t>
            </a:r>
          </a:p>
          <a:p>
            <a:endParaRPr/>
          </a:p>
          <a:p>
            <a:r>
              <a:t>And Euclidean smallness is measured in the ambient activation space, which knows nothing about where the data lives. So the solution is free to cut across the manifold, and on a closed geometry the shortest chord runs through the empty centre. The failure is not a bug in the solver — it is what minimising the wrong norm buys you.</a:t>
            </a:r>
          </a:p>
          <a:p>
            <a:endParaRPr/>
          </a:p>
          <a:p>
            <a:r>
              <a:t>Where I would take this next: whether the 3x retention gap widens by the final layer, and whether any of it holds on real video, where the manifolds are not this clean. Happy to go wherever is most useful.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a:t>
            </a:r>
            <a:r>
              <a:t>hether </a:t>
            </a:r>
            <a:r>
              <a:rPr dirty="0"/>
              <a:t>the off-manifold state is a noisy variant of a real one.</a:t>
            </a:r>
          </a:p>
          <a:p>
            <a:endParaRPr dirty="0"/>
          </a:p>
          <a:p>
            <a:r>
              <a:rPr dirty="0"/>
              <a:t>THREE TESTS, AND THE INTUITIVE ONE FAILS.</a:t>
            </a:r>
          </a:p>
          <a:p>
            <a:endParaRPr dirty="0"/>
          </a:p>
          <a:p>
            <a:r>
              <a:rPr dirty="0"/>
              <a:t>Test 1, the bootstrap tube: the chord sits 2.4 times outside the 95% tube at its worst point, and 51% of its length is outside. Real, but weaker than it sounds — the tube is about 38% of the ring radius, so 1,148 clips do not pin the manifold that tightly.</a:t>
            </a:r>
          </a:p>
          <a:p>
            <a:endParaRPr dirty="0"/>
          </a:p>
          <a:p>
            <a:r>
              <a:rPr dirty="0"/>
              <a:t>Test 2, distance from the curve: THIS ONE FAILS. A real clip sits 17.2 from the centroid curve on average. The chord midpoint sits 13.0 — closer than 77% of real clips. If someone argues 'it is only 13 out and real data is 17 out', they are CORRECT. Do not claim distance-from-curve proves anything.</a:t>
            </a:r>
          </a:p>
          <a:p>
            <a:endParaRPr dirty="0"/>
          </a:p>
          <a:p>
            <a:r>
              <a:rPr dirty="0"/>
              <a:t>Test 3, the radial shell, is decisive. In 64 dimensions the data occupies a shell, not a ball. Real clips sit at radius 15.8 minimum, 23.7 median. The midpoint sits at 5.1. ZERO of 1,148 clips are that close to the </a:t>
            </a:r>
            <a:r>
              <a:rPr dirty="0" err="1"/>
              <a:t>centre</a:t>
            </a:r>
            <a:r>
              <a:rPr dirty="0"/>
              <a:t> — z-score minus 4.1, and 0.32 times the radius of the closest real clip.</a:t>
            </a:r>
          </a:p>
          <a:p>
            <a:endParaRPr dirty="0"/>
          </a:p>
          <a:p>
            <a:r>
              <a:rPr dirty="0"/>
              <a:t>So: the midpoint occupies a region no training clip occupies. Lead with 0-of-1148, not the tube.</a:t>
            </a:r>
          </a:p>
          <a:p>
            <a:endParaRPr dirty="0"/>
          </a:p>
          <a:p>
            <a:r>
              <a:rPr dirty="0"/>
              <a:t>General lesson worth one sentence: in high dimensions an off-distribution point is often CLOSER to the mean than real data is, not farther. Distance-to-the-fit is the wrong diagnostic; occupancy of the region is the right 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OPENING</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thesis</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To control a world model, follow its geometry</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V-JEPA 2 ViT-L/16, frozen. 4,572 synthetic clips of one disk moving on an empty field. Speed and acceleration turn out to be ordinary scalars. Direction is a ring — and that difference decides whether you can steer it.</a:t>
            </a:r>
          </a:p>
        </p:txBody>
      </p:sp>
      <p:pic>
        <p:nvPicPr>
          <p:cNvPr id="7" name="Picture 6" descr="d1_linear_vs_manifold.png"/>
          <p:cNvPicPr>
            <a:picLocks noChangeAspect="1"/>
          </p:cNvPicPr>
          <p:nvPr/>
        </p:nvPicPr>
        <p:blipFill>
          <a:blip r:embed="rId3"/>
          <a:stretch>
            <a:fillRect/>
          </a:stretch>
        </p:blipFill>
        <p:spPr>
          <a:xfrm>
            <a:off x="2191600" y="2633472"/>
            <a:ext cx="78084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CLIPS</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i="0">
                <a:solidFill>
                  <a:srgbClr val="17191C"/>
                </a:solidFill>
                <a:latin typeface="Menlo"/>
              </a:rPr>
              <a:t>4,572</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direction · speed · acceleration</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RESIDUAL STREAM</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500" b="1" i="0">
                <a:solidFill>
                  <a:srgbClr val="17191C"/>
                </a:solidFill>
                <a:latin typeface="Menlo"/>
              </a:rPr>
              <a:t>26 states</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layers 0–24 plus post-LayerNorm</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ENCODER</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500" b="1" i="0">
                <a:solidFill>
                  <a:srgbClr val="0B4F6C"/>
                </a:solidFill>
                <a:latin typeface="Menlo"/>
              </a:rPr>
              <a:t>frozen</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probes and splines fitted on top</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  ·  F2  ·  F6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Physics is readable almost immediately</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Layer-wise linear probes for all three variables, on held-out label values. The dash-dot line is what a perfect pixel tracker achieves on the same clips. Layer 0 is omitted — it is off-scale in every panel.</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LAYER 0 → 1</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a:solidFill>
                  <a:srgbClr val="B03A2E"/>
                </a:solidFill>
                <a:latin typeface="Menlo"/>
              </a:rPr>
              <a:t>66.9° → 11.4°</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one attention block does it</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BEST, ALL THREE</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300" b="1">
                <a:solidFill>
                  <a:srgbClr val="1E7A4E"/>
                </a:solidFill>
                <a:latin typeface="Menlo"/>
              </a:rPr>
              <a:t>L16 / L14 / L14</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2.57° · 0.056 · 0.153</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TRACKER ORACLE</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300" b="1">
                <a:solidFill>
                  <a:srgbClr val="0B4F6C"/>
                </a:solidFill>
                <a:latin typeface="Menlo"/>
              </a:rPr>
              <a:t>1.19° · 0.011 · 0.036</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the encoder never reaches it</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02</a:t>
            </a:r>
          </a:p>
        </p:txBody>
      </p:sp>
      <p:pic>
        <p:nvPicPr>
          <p:cNvPr id="22" name="Picture 21" descr="layer_sweep_all.png"/>
          <p:cNvPicPr>
            <a:picLocks noChangeAspect="1"/>
          </p:cNvPicPr>
          <p:nvPr/>
        </p:nvPicPr>
        <p:blipFill>
          <a:blip r:embed="rId4"/>
          <a:stretch>
            <a:fillRect/>
          </a:stretch>
        </p:blipFill>
        <p:spPr>
          <a:xfrm>
            <a:off x="2953512" y="3042636"/>
            <a:ext cx="6291072" cy="187915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F3</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Everything is redundant — direction just reads wider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Iterative nullspace probing: fit a probe, project its readout subspace out, refit, repeat. The dotted lines remove random subspaces instead — the control that makes the curve mean anything.</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PROBE-DIRECTED REMOVAL</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a:solidFill>
                  <a:srgbClr val="B03A2E"/>
                </a:solidFill>
                <a:latin typeface="Menlo"/>
              </a:rPr>
              <a:t>0.99 → 0.01</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the signal is destroyed</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RANDOM REMOVAL, SAME N</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a:solidFill>
                  <a:srgbClr val="0B4F6C"/>
                </a:solidFill>
                <a:latin typeface="Menlo"/>
              </a:rPr>
              <a:t>0.99 → 0.99</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flat — the control</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INDEPENDENT READOUTS</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a:solidFill>
                  <a:srgbClr val="1E7A4E"/>
                </a:solidFill>
                <a:latin typeface="Menlo"/>
              </a:rPr>
              <a:t>71 / 69 / 67</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dir / speed / accel — equal</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DIMENSIONS TO HALVE</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a:solidFill>
                  <a:srgbClr val="71757B"/>
                </a:solidFill>
                <a:latin typeface="Menlo"/>
              </a:rPr>
              <a:t>142 / 69 / 67</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2× is readout rank, not redundancy</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03</a:t>
            </a:r>
          </a:p>
        </p:txBody>
      </p:sp>
      <p:pic>
        <p:nvPicPr>
          <p:cNvPr id="26" name="Picture 25" descr="nullspace_combined.png"/>
          <p:cNvPicPr>
            <a:picLocks noChangeAspect="1"/>
          </p:cNvPicPr>
          <p:nvPr/>
        </p:nvPicPr>
        <p:blipFill>
          <a:blip r:embed="rId3"/>
          <a:stretch>
            <a:fillRect/>
          </a:stretch>
        </p:blipFill>
        <p:spPr>
          <a:xfrm>
            <a:off x="2952152" y="2877007"/>
            <a:ext cx="6287389" cy="221041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F10</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The model invents a Fourier ladder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The 64 directions are equally spaced, so a DFT of the per-angle centroids reads the harmonic content off directly. Noise floor from splitting the repetitions in half.</a:t>
            </a:r>
          </a:p>
        </p:txBody>
      </p:sp>
      <p:pic>
        <p:nvPicPr>
          <p:cNvPr id="7" name="Picture 6" descr="harmonics_direction.png"/>
          <p:cNvPicPr>
            <a:picLocks noChangeAspect="1"/>
          </p:cNvPicPr>
          <p:nvPr/>
        </p:nvPicPr>
        <p:blipFill>
          <a:blip r:embed="rId3"/>
          <a:stretch>
            <a:fillRect/>
          </a:stretch>
        </p:blipFill>
        <p:spPr>
          <a:xfrm>
            <a:off x="2175678" y="2633472"/>
            <a:ext cx="7840339"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1 · DIRECTION</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73.2%</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PC1–PC2, R² 0.99</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2 · AXIS</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18.7%</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PC3 — invariant to a 180° flip</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3</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17191C"/>
                </a:solidFill>
                <a:latin typeface="Menlo"/>
              </a:rPr>
              <a:t>at noise</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SNR 3.4 — absent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4</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3.0%</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PC4, R² 0.87</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spc="100">
                <a:solidFill>
                  <a:srgbClr val="71757B"/>
                </a:solidFill>
                <a:latin typeface="Menlo"/>
              </a:rPr>
              <a:t>F8  ·  F8b  ·  F8c</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Steering rotates the code — but needs a subspace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Stack K probe readouts, solve for the coordinates that make them all read the target. Evaluated with a HELD-OUT probe — never one of the K that built the basis — on held-out label values.</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DIRECTION, K = 1</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a:solidFill>
                  <a:srgbClr val="B03A2E"/>
                </a:solidFill>
                <a:latin typeface="Menlo"/>
              </a:rPr>
              <a:t>28%</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of the gap closed — barely works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DIRECTION, K = 4</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a:solidFill>
                  <a:srgbClr val="1E7A4E"/>
                </a:solidFill>
                <a:latin typeface="Menlo"/>
              </a:rPr>
              <a:t>97%</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a coordinated subspace works</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EITHER SCALAR, K = 1</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a:solidFill>
                  <a:srgbClr val="0B4F6C"/>
                </a:solidFill>
                <a:latin typeface="Menlo"/>
              </a:rPr>
              <a:t>74%</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one probe is enough</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LEAKAGE AT DIM 16</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a:solidFill>
                  <a:srgbClr val="B03A2E"/>
                </a:solidFill>
                <a:latin typeface="Menlo"/>
              </a:rPr>
              <a:t>every cell</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specificity is gone</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05</a:t>
            </a:r>
          </a:p>
        </p:txBody>
      </p:sp>
      <p:pic>
        <p:nvPicPr>
          <p:cNvPr id="26" name="Picture 25" descr="steering_combined.png"/>
          <p:cNvPicPr>
            <a:picLocks noChangeAspect="1"/>
          </p:cNvPicPr>
          <p:nvPr/>
        </p:nvPicPr>
        <p:blipFill>
          <a:blip r:embed="rId3"/>
          <a:stretch>
            <a:fillRect/>
          </a:stretch>
        </p:blipFill>
        <p:spPr>
          <a:xfrm>
            <a:off x="2878277" y="3042013"/>
            <a:ext cx="6435139" cy="188039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F13  ·  F14</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It is topology, not curvature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Endpoints are identical by construction, so the only difference between the two routes is the path taken. Both chords leave the data manifold by a similar margin. Only one of them breaks the model.</a:t>
            </a:r>
          </a:p>
        </p:txBody>
      </p:sp>
      <p:pic>
        <p:nvPicPr>
          <p:cNvPr id="7" name="Picture 6" descr="d6_topology.png"/>
          <p:cNvPicPr>
            <a:picLocks noChangeAspect="1"/>
          </p:cNvPicPr>
          <p:nvPr/>
        </p:nvPicPr>
        <p:blipFill>
          <a:blip r:embed="rId3"/>
          <a:stretch>
            <a:fillRect/>
          </a:stretch>
        </p:blipFill>
        <p:spPr>
          <a:xfrm>
            <a:off x="2386812" y="2633472"/>
            <a:ext cx="7418070"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SPEED · ARCLENGTH ÷ CHORD</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4.68</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strongly curved too</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DIRECTION · ARCLENGTH ÷ CHORD</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6.59</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similar curvature</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OFF-MANIFOLD, BOTH</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17191C"/>
                </a:solidFill>
                <a:latin typeface="Menlo"/>
              </a:rPr>
              <a:t>80–120×</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in 100% of value pairs</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BEHAVIOURAL PENALTY</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direction only</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speed is untouched</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F14b</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A physically impossible state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Reading three probes at the midpoint (t = 0.5) of the linear direction chord. Run on the clips where theta and speed are decorrelated, so the speed probe is clean.</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DIRECTION, M = 1</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a:solidFill>
                  <a:srgbClr val="B03A2E"/>
                </a:solidFill>
                <a:latin typeface="Menlo"/>
              </a:rPr>
              <a:t>certainty 0.18</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annihilated — zero information</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AXIS, M = 2</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500" b="1">
                <a:solidFill>
                  <a:srgbClr val="1E7A4E"/>
                </a:solidFill>
                <a:latin typeface="Menlo"/>
              </a:rPr>
              <a:t>5.9° error</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intact — chance is 45°</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SPEED</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500" b="1">
                <a:solidFill>
                  <a:srgbClr val="B87A00"/>
                </a:solidFill>
                <a:latin typeface="Menlo"/>
              </a:rPr>
              <a:t>2.2× baseline</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degraded, not untouched</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07</a:t>
            </a:r>
          </a:p>
        </p:txBody>
      </p:sp>
      <p:pic>
        <p:nvPicPr>
          <p:cNvPr id="22" name="Picture 21" descr="ghost_state.png"/>
          <p:cNvPicPr>
            <a:picLocks noChangeAspect="1"/>
          </p:cNvPicPr>
          <p:nvPr/>
        </p:nvPicPr>
        <p:blipFill>
          <a:blip r:embed="rId4"/>
          <a:stretch>
            <a:fillRect/>
          </a:stretch>
        </p:blipFill>
        <p:spPr>
          <a:xfrm>
            <a:off x="3752681" y="2633472"/>
            <a:ext cx="4692734" cy="26974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F11</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Attention rotates the edit out</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Reading the residual stream at half-block resolution, with probes fitted per position on unmodified activations. The question is why the network undoes a Euclidean edit.</a:t>
            </a:r>
          </a:p>
        </p:txBody>
      </p:sp>
      <p:pic>
        <p:nvPicPr>
          <p:cNvPr id="7" name="Picture 6" descr="d8_rotation.png"/>
          <p:cNvPicPr>
            <a:picLocks noChangeAspect="1"/>
          </p:cNvPicPr>
          <p:nvPr/>
        </p:nvPicPr>
        <p:blipFill>
          <a:blip r:embed="rId3"/>
          <a:stretch>
            <a:fillRect/>
          </a:stretch>
        </p:blipFill>
        <p:spPr>
          <a:xfrm>
            <a:off x="2291709" y="2633472"/>
            <a:ext cx="7608276"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LAYERNORM RESCALING</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17191C"/>
                </a:solidFill>
                <a:latin typeface="Menlo"/>
              </a:rPr>
              <a:t>ruled out</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norm ratio 1.00 ± 0.005</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PERTURBATION MAGNITUDE</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69% kept</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it is not erased</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READOUT-ALIGNED PART</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32% kept</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decays 2.2× faster</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ATTENTION SHARE</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77%</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of the total decay</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spc="100">
                <a:solidFill>
                  <a:srgbClr val="71757B"/>
                </a:solidFill>
                <a:latin typeface="Menlo"/>
              </a:rPr>
              <a:t>F15  ·  F18</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It changes what the model predicts next</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Inject at layer 16, propagate through the whole encoder, then drive the shipped predictor: forecast the second half of the clip from the first. A probe fitted on unsteered forecasts reads the result — so this is behaviour, not representation.</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FORECAST, UNSTEERED</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a:solidFill>
                  <a:srgbClr val="71757B"/>
                </a:solidFill>
                <a:latin typeface="Menlo"/>
              </a:rPr>
              <a:t>81.4°</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to the target — the floor</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MULTI-PROBE K = 16</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a:solidFill>
                  <a:srgbClr val="B03A2E"/>
                </a:solidFill>
                <a:latin typeface="Menlo"/>
              </a:rPr>
              <a:t>76.4°</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6.6% of the gap closed</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SPLINE, ON-MANIFOLD</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a:solidFill>
                  <a:srgbClr val="1E7A4E"/>
                </a:solidFill>
                <a:latin typeface="Menlo"/>
              </a:rPr>
              <a:t>14.4°</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89% — ceiling is 6.5°</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AT MATCHED ‖Δ‖</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a:solidFill>
                  <a:srgbClr val="0B4F6C"/>
                </a:solidFill>
                <a:latin typeface="Menlo"/>
              </a:rPr>
              <a:t>38% vs 89%</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not a magnitude effect</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09</a:t>
            </a:r>
          </a:p>
        </p:txBody>
      </p:sp>
      <p:pic>
        <p:nvPicPr>
          <p:cNvPr id="26" name="Picture 25" descr="behaviour_forecast.png"/>
          <p:cNvPicPr>
            <a:picLocks noChangeAspect="1"/>
          </p:cNvPicPr>
          <p:nvPr/>
        </p:nvPicPr>
        <p:blipFill>
          <a:blip r:embed="rId5"/>
          <a:stretch>
            <a:fillRect/>
          </a:stretch>
        </p:blipFill>
        <p:spPr>
          <a:xfrm>
            <a:off x="2953512" y="2902401"/>
            <a:ext cx="6291072" cy="215962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F17</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Or fight the rotation at every layer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The move from LLM interpretability: rather than asking one edit to survive, assert the feature again at every block. Anthropic clamp an SAE feature's activation during the forward pass to steer Claude 3 Sonnet (Templeton et al., Scaling Monosemanticity, 2024). Same idea, applied across blocks 16–19.</a:t>
            </a:r>
          </a:p>
        </p:txBody>
      </p:sp>
      <p:pic>
        <p:nvPicPr>
          <p:cNvPr id="7" name="Picture 6" descr="clamping.png"/>
          <p:cNvPicPr>
            <a:picLocks noChangeAspect="1"/>
          </p:cNvPicPr>
          <p:nvPr/>
        </p:nvPicPr>
        <p:blipFill>
          <a:blip r:embed="rId3"/>
          <a:stretch>
            <a:fillRect/>
          </a:stretch>
        </p:blipFill>
        <p:spPr>
          <a:xfrm>
            <a:off x="2225550" y="2633472"/>
            <a:ext cx="77405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CLAMPING WORKS</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+0.36 → +0.79</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at four blocks — more than doubles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RE-INJECTING IS NOT CLAMPING</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+1.30</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over-driven, at 4× the cost</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CLAMP K=16</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4 interventions</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Σ‖Δ‖ = 20.2</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ONE SPLINE EDIT</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1 intervention</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Σ‖Δ‖ = 22.1, and +0.88</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VERDICT</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spc="100">
                <a:solidFill>
                  <a:srgbClr val="71757B"/>
                </a:solidFill>
                <a:latin typeface="Menlo"/>
              </a:rPr>
              <a:t>F8  ·  F14  ·  F15  ·  F18</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Geometry is not descriptive. It is the control surface.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Both methods work. Which one you want depends on the shape of the variable — and on whether anything downstream has to read the result.</a:t>
            </a:r>
          </a:p>
        </p:txBody>
      </p:sp>
      <p:graphicFrame>
        <p:nvGraphicFramePr>
          <p:cNvPr id="7" name="Table 6"/>
          <p:cNvGraphicFramePr>
            <a:graphicFrameLocks noGrp="1"/>
          </p:cNvGraphicFramePr>
          <p:nvPr/>
        </p:nvGraphicFramePr>
        <p:xfrm>
          <a:off x="658368" y="2560320"/>
          <a:ext cx="10874958" cy="2743195"/>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4020159">
                  <a:extLst>
                    <a:ext uri="{9D8B030D-6E8A-4147-A177-3AD203B41FA5}">
                      <a16:colId xmlns:a16="http://schemas.microsoft.com/office/drawing/2014/main" val="20001"/>
                    </a:ext>
                  </a:extLst>
                </a:gridCol>
                <a:gridCol w="4020159">
                  <a:extLst>
                    <a:ext uri="{9D8B030D-6E8A-4147-A177-3AD203B41FA5}">
                      <a16:colId xmlns:a16="http://schemas.microsoft.com/office/drawing/2014/main" val="20002"/>
                    </a:ext>
                  </a:extLst>
                </a:gridCol>
              </a:tblGrid>
              <a:tr h="391885">
                <a:tc>
                  <a:txBody>
                    <a:bodyPr/>
                    <a:lstStyle/>
                    <a:p>
                      <a:endParaRPr/>
                    </a:p>
                  </a:txBody>
                  <a:tcPr marL="128016" marT="54864" marB="54864" anchor="ctr">
                    <a:solidFill>
                      <a:srgbClr val="FFFFFF"/>
                    </a:solidFill>
                  </a:tcPr>
                </a:tc>
                <a:tc>
                  <a:txBody>
                    <a:bodyPr/>
                    <a:lstStyle/>
                    <a:p>
                      <a:r>
                        <a:rPr sz="850" b="0" i="0" spc="120">
                          <a:solidFill>
                            <a:srgbClr val="71757B"/>
                          </a:solidFill>
                          <a:latin typeface="Menlo"/>
                        </a:rPr>
                        <a:t>MULTI-PROBE SUBSPACE</a:t>
                      </a:r>
                    </a:p>
                  </a:txBody>
                  <a:tcPr marL="128016" marT="54864" marB="54864" anchor="ctr">
                    <a:solidFill>
                      <a:srgbClr val="FFFFFF"/>
                    </a:solidFill>
                  </a:tcPr>
                </a:tc>
                <a:tc>
                  <a:txBody>
                    <a:bodyPr/>
                    <a:lstStyle/>
                    <a:p>
                      <a:r>
                        <a:rPr sz="850" b="0" i="0" spc="120">
                          <a:solidFill>
                            <a:srgbClr val="71757B"/>
                          </a:solidFill>
                          <a:latin typeface="Menlo"/>
                        </a:rPr>
                        <a:t>SPLINE / MANIFOLD</a:t>
                      </a:r>
                    </a:p>
                  </a:txBody>
                  <a:tcPr marL="128016" marT="54864" marB="54864" anchor="ctr">
                    <a:solidFill>
                      <a:srgbClr val="FFFFFF"/>
                    </a:solidFill>
                  </a:tcPr>
                </a:tc>
                <a:extLst>
                  <a:ext uri="{0D108BD9-81ED-4DB2-BD59-A6C34878D82A}">
                    <a16:rowId xmlns:a16="http://schemas.microsoft.com/office/drawing/2014/main" val="10000"/>
                  </a:ext>
                </a:extLst>
              </a:tr>
              <a:tr h="391885">
                <a:tc>
                  <a:txBody>
                    <a:bodyPr/>
                    <a:lstStyle/>
                    <a:p>
                      <a:r>
                        <a:rPr sz="1050" b="1" i="0">
                          <a:solidFill>
                            <a:srgbClr val="17191C"/>
                          </a:solidFill>
                          <a:latin typeface="Avenir Next"/>
                        </a:rPr>
                        <a:t>endpoint accuracy</a:t>
                      </a:r>
                    </a:p>
                  </a:txBody>
                  <a:tcPr marL="128016" marT="54864" marB="54864" anchor="ctr">
                    <a:solidFill>
                      <a:srgbClr val="FFFFFF"/>
                    </a:solidFill>
                  </a:tcPr>
                </a:tc>
                <a:tc>
                  <a:txBody>
                    <a:bodyPr/>
                    <a:lstStyle/>
                    <a:p>
                      <a:r>
                        <a:rPr sz="1050" b="0" i="0">
                          <a:solidFill>
                            <a:srgbClr val="1E7A4E"/>
                          </a:solidFill>
                          <a:latin typeface="Avenir Next"/>
                        </a:rPr>
                        <a:t>better — 5.32°</a:t>
                      </a:r>
                    </a:p>
                  </a:txBody>
                  <a:tcPr marL="128016" marT="54864" marB="54864" anchor="ctr">
                    <a:solidFill>
                      <a:srgbClr val="FFFFFF"/>
                    </a:solidFill>
                  </a:tcPr>
                </a:tc>
                <a:tc>
                  <a:txBody>
                    <a:bodyPr/>
                    <a:lstStyle/>
                    <a:p>
                      <a:r>
                        <a:rPr sz="1050" b="0" i="0">
                          <a:solidFill>
                            <a:srgbClr val="71757B"/>
                          </a:solidFill>
                          <a:latin typeface="Avenir Next"/>
                        </a:rPr>
                        <a:t>7.02°</a:t>
                      </a:r>
                    </a:p>
                  </a:txBody>
                  <a:tcPr marL="128016" marT="54864" marB="54864" anchor="ctr">
                    <a:solidFill>
                      <a:srgbClr val="FFFFFF"/>
                    </a:solidFill>
                  </a:tcPr>
                </a:tc>
                <a:extLst>
                  <a:ext uri="{0D108BD9-81ED-4DB2-BD59-A6C34878D82A}">
                    <a16:rowId xmlns:a16="http://schemas.microsoft.com/office/drawing/2014/main" val="10001"/>
                  </a:ext>
                </a:extLst>
              </a:tr>
              <a:tr h="391885">
                <a:tc>
                  <a:txBody>
                    <a:bodyPr/>
                    <a:lstStyle/>
                    <a:p>
                      <a:r>
                        <a:rPr sz="1050" b="1" i="0">
                          <a:solidFill>
                            <a:srgbClr val="17191C"/>
                          </a:solidFill>
                          <a:latin typeface="Avenir Next"/>
                        </a:rPr>
                        <a:t>survives propagation</a:t>
                      </a:r>
                    </a:p>
                  </a:txBody>
                  <a:tcPr marL="128016" marT="54864" marB="54864" anchor="ctr">
                    <a:solidFill>
                      <a:srgbClr val="FFFFFF"/>
                    </a:solidFill>
                  </a:tcPr>
                </a:tc>
                <a:tc>
                  <a:txBody>
                    <a:bodyPr/>
                    <a:lstStyle/>
                    <a:p>
                      <a:r>
                        <a:rPr sz="1050" b="0" i="0">
                          <a:solidFill>
                            <a:srgbClr val="B03A2E"/>
                          </a:solidFill>
                          <a:latin typeface="Avenir Next"/>
                        </a:rPr>
                        <a:t>25% at four blocks</a:t>
                      </a:r>
                    </a:p>
                  </a:txBody>
                  <a:tcPr marL="128016" marT="54864" marB="54864" anchor="ctr">
                    <a:solidFill>
                      <a:srgbClr val="FFFFFF"/>
                    </a:solidFill>
                  </a:tcPr>
                </a:tc>
                <a:tc>
                  <a:txBody>
                    <a:bodyPr/>
                    <a:lstStyle/>
                    <a:p>
                      <a:r>
                        <a:rPr sz="1050" b="0" i="0">
                          <a:solidFill>
                            <a:srgbClr val="1E7A4E"/>
                          </a:solidFill>
                          <a:latin typeface="Avenir Next"/>
                        </a:rPr>
                        <a:t>76%</a:t>
                      </a:r>
                    </a:p>
                  </a:txBody>
                  <a:tcPr marL="128016" marT="54864" marB="54864" anchor="ctr">
                    <a:solidFill>
                      <a:srgbClr val="FFFFFF"/>
                    </a:solidFill>
                  </a:tcPr>
                </a:tc>
                <a:extLst>
                  <a:ext uri="{0D108BD9-81ED-4DB2-BD59-A6C34878D82A}">
                    <a16:rowId xmlns:a16="http://schemas.microsoft.com/office/drawing/2014/main" val="10002"/>
                  </a:ext>
                </a:extLst>
              </a:tr>
              <a:tr h="391885">
                <a:tc>
                  <a:txBody>
                    <a:bodyPr/>
                    <a:lstStyle/>
                    <a:p>
                      <a:r>
                        <a:rPr sz="1050" b="1">
                          <a:solidFill>
                            <a:srgbClr val="17191C"/>
                          </a:solidFill>
                          <a:latin typeface="Avenir Next"/>
                        </a:rPr>
                        <a:t>changes the forecast</a:t>
                      </a:r>
                    </a:p>
                  </a:txBody>
                  <a:tcPr marL="128016" marT="54864" marB="54864" anchor="ctr">
                    <a:solidFill>
                      <a:srgbClr val="FFFFFF"/>
                    </a:solidFill>
                  </a:tcPr>
                </a:tc>
                <a:tc>
                  <a:txBody>
                    <a:bodyPr/>
                    <a:lstStyle/>
                    <a:p>
                      <a:r>
                        <a:rPr sz="1050" b="0">
                          <a:solidFill>
                            <a:srgbClr val="B03A2E"/>
                          </a:solidFill>
                          <a:latin typeface="Avenir Next"/>
                        </a:rPr>
                        <a:t>7% of the gap</a:t>
                      </a:r>
                    </a:p>
                  </a:txBody>
                  <a:tcPr marL="128016" marT="54864" marB="54864" anchor="ctr">
                    <a:solidFill>
                      <a:srgbClr val="FFFFFF"/>
                    </a:solidFill>
                  </a:tcPr>
                </a:tc>
                <a:tc>
                  <a:txBody>
                    <a:bodyPr/>
                    <a:lstStyle/>
                    <a:p>
                      <a:r>
                        <a:rPr sz="1050" b="0">
                          <a:solidFill>
                            <a:srgbClr val="1E7A4E"/>
                          </a:solidFill>
                          <a:latin typeface="Avenir Next"/>
                        </a:rPr>
                        <a:t>89%</a:t>
                      </a:r>
                    </a:p>
                  </a:txBody>
                  <a:tcPr marL="128016" marT="54864" marB="54864" anchor="ctr">
                    <a:solidFill>
                      <a:srgbClr val="FFFFFF"/>
                    </a:solidFill>
                  </a:tcPr>
                </a:tc>
                <a:extLst>
                  <a:ext uri="{0D108BD9-81ED-4DB2-BD59-A6C34878D82A}">
                    <a16:rowId xmlns:a16="http://schemas.microsoft.com/office/drawing/2014/main" val="10002"/>
                  </a:ext>
                </a:extLst>
              </a:tr>
              <a:tr h="391885">
                <a:tc>
                  <a:txBody>
                    <a:bodyPr/>
                    <a:lstStyle/>
                    <a:p>
                      <a:r>
                        <a:rPr sz="1050" b="1" i="0">
                          <a:solidFill>
                            <a:srgbClr val="17191C"/>
                          </a:solidFill>
                          <a:latin typeface="Avenir Next"/>
                        </a:rPr>
                        <a:t>intermediate states</a:t>
                      </a:r>
                    </a:p>
                  </a:txBody>
                  <a:tcPr marL="128016" marT="54864" marB="54864" anchor="ctr">
                    <a:solidFill>
                      <a:srgbClr val="FFFFFF"/>
                    </a:solidFill>
                  </a:tcPr>
                </a:tc>
                <a:tc>
                  <a:txBody>
                    <a:bodyPr/>
                    <a:lstStyle/>
                    <a:p>
                      <a:r>
                        <a:rPr sz="1050" b="0" i="0">
                          <a:solidFill>
                            <a:srgbClr val="B03A2E"/>
                          </a:solidFill>
                          <a:latin typeface="Avenir Next"/>
                        </a:rPr>
                        <a:t>collapse on closed geometry</a:t>
                      </a:r>
                    </a:p>
                  </a:txBody>
                  <a:tcPr marL="128016" marT="54864" marB="54864" anchor="ctr">
                    <a:solidFill>
                      <a:srgbClr val="FFFFFF"/>
                    </a:solidFill>
                  </a:tcPr>
                </a:tc>
                <a:tc>
                  <a:txBody>
                    <a:bodyPr/>
                    <a:lstStyle/>
                    <a:p>
                      <a:r>
                        <a:rPr sz="1050" b="0" i="0">
                          <a:solidFill>
                            <a:srgbClr val="1E7A4E"/>
                          </a:solidFill>
                          <a:latin typeface="Avenir Next"/>
                        </a:rPr>
                        <a:t>stay valid</a:t>
                      </a:r>
                    </a:p>
                  </a:txBody>
                  <a:tcPr marL="128016" marT="54864" marB="54864" anchor="ctr">
                    <a:solidFill>
                      <a:srgbClr val="FFFFFF"/>
                    </a:solidFill>
                  </a:tcPr>
                </a:tc>
                <a:extLst>
                  <a:ext uri="{0D108BD9-81ED-4DB2-BD59-A6C34878D82A}">
                    <a16:rowId xmlns:a16="http://schemas.microsoft.com/office/drawing/2014/main" val="10003"/>
                  </a:ext>
                </a:extLst>
              </a:tr>
              <a:tr h="391885">
                <a:tc>
                  <a:txBody>
                    <a:bodyPr/>
                    <a:lstStyle/>
                    <a:p>
                      <a:r>
                        <a:rPr sz="1050" b="1" i="0">
                          <a:solidFill>
                            <a:srgbClr val="17191C"/>
                          </a:solidFill>
                          <a:latin typeface="Avenir Next"/>
                        </a:rPr>
                        <a:t>what it needs</a:t>
                      </a:r>
                    </a:p>
                  </a:txBody>
                  <a:tcPr marL="128016" marT="54864" marB="54864" anchor="ctr">
                    <a:solidFill>
                      <a:srgbClr val="FFFFFF"/>
                    </a:solidFill>
                  </a:tcPr>
                </a:tc>
                <a:tc>
                  <a:txBody>
                    <a:bodyPr/>
                    <a:lstStyle/>
                    <a:p>
                      <a:r>
                        <a:rPr sz="1050" b="0" i="0">
                          <a:solidFill>
                            <a:srgbClr val="71757B"/>
                          </a:solidFill>
                          <a:latin typeface="Avenir Next"/>
                        </a:rPr>
                        <a:t>K fitted probes</a:t>
                      </a:r>
                    </a:p>
                  </a:txBody>
                  <a:tcPr marL="128016" marT="54864" marB="54864" anchor="ctr">
                    <a:solidFill>
                      <a:srgbClr val="FFFFFF"/>
                    </a:solidFill>
                  </a:tcPr>
                </a:tc>
                <a:tc>
                  <a:txBody>
                    <a:bodyPr/>
                    <a:lstStyle/>
                    <a:p>
                      <a:r>
                        <a:rPr sz="1050" b="0" i="0">
                          <a:solidFill>
                            <a:srgbClr val="71757B"/>
                          </a:solidFill>
                          <a:latin typeface="Avenir Next"/>
                        </a:rPr>
                        <a:t>per-value centroids only</a:t>
                      </a:r>
                    </a:p>
                  </a:txBody>
                  <a:tcPr marL="128016" marT="54864" marB="54864" anchor="ctr">
                    <a:solidFill>
                      <a:srgbClr val="FFFFFF"/>
                    </a:solidFill>
                  </a:tcPr>
                </a:tc>
                <a:extLst>
                  <a:ext uri="{0D108BD9-81ED-4DB2-BD59-A6C34878D82A}">
                    <a16:rowId xmlns:a16="http://schemas.microsoft.com/office/drawing/2014/main" val="10004"/>
                  </a:ext>
                </a:extLst>
              </a:tr>
              <a:tr h="391885">
                <a:tc>
                  <a:txBody>
                    <a:bodyPr/>
                    <a:lstStyle/>
                    <a:p>
                      <a:r>
                        <a:rPr sz="1050" b="1" i="0">
                          <a:solidFill>
                            <a:srgbClr val="17191C"/>
                          </a:solidFill>
                          <a:latin typeface="Avenir Next"/>
                        </a:rPr>
                        <a:t>best for</a:t>
                      </a:r>
                    </a:p>
                  </a:txBody>
                  <a:tcPr marL="128016" marT="54864" marB="54864" anchor="ctr">
                    <a:solidFill>
                      <a:srgbClr val="FFFFFF"/>
                    </a:solidFill>
                  </a:tcPr>
                </a:tc>
                <a:tc>
                  <a:txBody>
                    <a:bodyPr/>
                    <a:lstStyle/>
                    <a:p>
                      <a:r>
                        <a:rPr sz="1050" b="0" i="0">
                          <a:solidFill>
                            <a:srgbClr val="71757B"/>
                          </a:solidFill>
                          <a:latin typeface="Avenir Next"/>
                        </a:rPr>
                        <a:t>monotone scalars</a:t>
                      </a:r>
                    </a:p>
                  </a:txBody>
                  <a:tcPr marL="128016" marT="54864" marB="54864" anchor="ctr">
                    <a:solidFill>
                      <a:srgbClr val="FFFFFF"/>
                    </a:solidFill>
                  </a:tcPr>
                </a:tc>
                <a:tc>
                  <a:txBody>
                    <a:bodyPr/>
                    <a:lstStyle/>
                    <a:p>
                      <a:r>
                        <a:rPr sz="1050" b="0" i="0">
                          <a:solidFill>
                            <a:srgbClr val="71757B"/>
                          </a:solidFill>
                          <a:latin typeface="Avenir Next"/>
                        </a:rPr>
                        <a:t>cyclic variables</a:t>
                      </a:r>
                    </a:p>
                  </a:txBody>
                  <a:tcPr marL="128016" marT="54864" marB="54864" anchor="ctr">
                    <a:solidFill>
                      <a:srgbClr val="FFFFFF"/>
                    </a:solidFill>
                  </a:tcPr>
                </a:tc>
                <a:extLst>
                  <a:ext uri="{0D108BD9-81ED-4DB2-BD59-A6C34878D82A}">
                    <a16:rowId xmlns:a16="http://schemas.microsoft.com/office/drawing/2014/main" val="10005"/>
                  </a:ext>
                </a:extLst>
              </a:tr>
              <a:tr h="391885">
                <a:tc>
                  <a:txBody>
                    <a:bodyPr/>
                    <a:lstStyle/>
                    <a:p>
                      <a:r>
                        <a:rPr sz="1050" b="1" i="0">
                          <a:solidFill>
                            <a:srgbClr val="17191C"/>
                          </a:solidFill>
                          <a:latin typeface="Avenir Next"/>
                        </a:rPr>
                        <a:t>main failure</a:t>
                      </a:r>
                    </a:p>
                  </a:txBody>
                  <a:tcPr marL="128016" marT="54864" marB="54864" anchor="ctr">
                    <a:solidFill>
                      <a:srgbClr val="FFFFFF"/>
                    </a:solidFill>
                  </a:tcPr>
                </a:tc>
                <a:tc>
                  <a:txBody>
                    <a:bodyPr/>
                    <a:lstStyle/>
                    <a:p>
                      <a:r>
                        <a:rPr sz="1050" b="0" i="0">
                          <a:solidFill>
                            <a:srgbClr val="B03A2E"/>
                          </a:solidFill>
                          <a:latin typeface="Avenir Next"/>
                        </a:rPr>
                        <a:t>minimises the wrong norm</a:t>
                      </a:r>
                    </a:p>
                  </a:txBody>
                  <a:tcPr marL="128016" marT="54864" marB="54864" anchor="ctr">
                    <a:solidFill>
                      <a:srgbClr val="FFFFFF"/>
                    </a:solidFill>
                  </a:tcPr>
                </a:tc>
                <a:tc>
                  <a:txBody>
                    <a:bodyPr/>
                    <a:lstStyle/>
                    <a:p>
                      <a:r>
                        <a:rPr sz="1050" b="0" i="0">
                          <a:solidFill>
                            <a:srgbClr val="71757B"/>
                          </a:solidFill>
                          <a:latin typeface="Avenir Next"/>
                        </a:rPr>
                        <a:t>undershoots the target</a:t>
                      </a:r>
                    </a:p>
                  </a:txBody>
                  <a:tcPr marL="128016" marT="54864" marB="54864" anchor="ctr">
                    <a:solidFill>
                      <a:srgbClr val="FFFFFF"/>
                    </a:solidFill>
                  </a:tcPr>
                </a:tc>
                <a:extLst>
                  <a:ext uri="{0D108BD9-81ED-4DB2-BD59-A6C34878D82A}">
                    <a16:rowId xmlns:a16="http://schemas.microsoft.com/office/drawing/2014/main" val="10006"/>
                  </a:ext>
                </a:extLst>
              </a:tr>
            </a:tbl>
          </a:graphicData>
        </a:graphic>
      </p:graphicFrame>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THE OBJECTIVE SOLVED</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i="0">
                <a:solidFill>
                  <a:srgbClr val="0B4F6C"/>
                </a:solidFill>
                <a:latin typeface="Menlo"/>
              </a:rPr>
              <a:t>min ‖Δx‖₂</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s.t. W(x+Δx) + b = y</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WHICH GIVES</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500" b="1" i="0">
                <a:solidFill>
                  <a:srgbClr val="17191C"/>
                </a:solidFill>
                <a:latin typeface="Menlo"/>
              </a:rPr>
              <a:t>Δx = W⁺r</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verified to 3e−14</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AND THAT IS THE BUG</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500" b="1" i="0">
                <a:solidFill>
                  <a:srgbClr val="B03A2E"/>
                </a:solidFill>
                <a:latin typeface="Menlo"/>
              </a:rPr>
              <a:t>wrong norm</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Euclidean, not geodesic</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BACKUP — ONLY IF ASKED</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Is that state just within the margin of error?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100 bootstrap resamples of the training clips, each refitting PCA, centroids and spline. Every curve is mapped back to activation space and re-projected into one reference basis before comparison — otherwise you measure PCA basis churn, not fit uncertainty.</a:t>
            </a:r>
          </a:p>
        </p:txBody>
      </p:sp>
      <p:pic>
        <p:nvPicPr>
          <p:cNvPr id="7" name="Picture 6" descr="bootstrap_tube.png"/>
          <p:cNvPicPr>
            <a:picLocks noChangeAspect="1"/>
          </p:cNvPicPr>
          <p:nvPr/>
        </p:nvPicPr>
        <p:blipFill>
          <a:blip r:embed="rId3"/>
          <a:stretch>
            <a:fillRect/>
          </a:stretch>
        </p:blipFill>
        <p:spPr>
          <a:xfrm>
            <a:off x="1551180" y="2633472"/>
            <a:ext cx="908933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BOOTSTRAP TUBE</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2.4× outside</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51% of the chord is out</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DISTANCE FROM CURVE</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13.0 vs 17.2</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THIS TEST FAILS — see notes</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CLIPS NEARER THE CENTRE</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0 of 1,148</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the decisive result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Z-SCORE OF THAT RADIUS</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−4.1</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0.32× the closest clip</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12</a:t>
            </a:r>
          </a:p>
        </p:txBody>
      </p:sp>
      <p:sp>
        <p:nvSpPr>
          <p:cNvPr id="26" name="TextBox 25"/>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B03A2E"/>
                </a:solidFill>
                <a:latin typeface="Menlo"/>
              </a:rPr>
              <a:t>BACKUP — NOT PRESENTED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3677</Words>
  <Application>Microsoft Macintosh PowerPoint</Application>
  <PresentationFormat>Widescreen</PresentationFormat>
  <Paragraphs>311</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Avenir Next</vt:lpstr>
      <vt:lpstr>Calibri</vt:lpstr>
      <vt:lpstr>Futura</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Vishal Das</cp:lastModifiedBy>
  <cp:revision>2</cp:revision>
  <dcterms:created xsi:type="dcterms:W3CDTF">2013-01-27T09:14:16Z</dcterms:created>
  <dcterms:modified xsi:type="dcterms:W3CDTF">2026-09-21T20:29:41Z</dcterms:modified>
  <cp:category/>
</cp:coreProperties>
</file>