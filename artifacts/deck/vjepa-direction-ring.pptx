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045"/>
  </p:normalViewPr>
  <p:slideViewPr>
    <p:cSldViewPr snapToGrid="0" snapToObjects="1">
      <p:cViewPr varScale="1">
        <p:scale>
          <a:sx n="124" d="100"/>
          <a:sy n="124" d="100"/>
        </p:scale>
        <p:origin x="640" y="168"/>
      </p:cViewPr>
      <p:guideLst>
        <p:guide orient="horz" pos="2160"/>
        <p:guide pos="2880"/>
      </p:guideLst>
    </p:cSldViewPr>
  </p:slideViewPr>
  <p:notesTextViewPr>
    <p:cViewPr>
      <p:scale>
        <a:sx n="100" d="100"/>
        <a:sy n="100" d="100"/>
      </p:scale>
      <p:origin x="0" y="-672"/>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666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sentences to set the hook. We already know video world models learn physics. The open question is how they ORGANISE it — because that decides whether we can control them.</a:t>
            </a:r>
          </a:p>
          <a:p>
            <a:endParaRPr/>
          </a:p>
          <a:p>
            <a:r>
              <a:t>The punchline of the next fifteen minutes: speed and acceleration behave like the scalars they are. Direction is a closed ring with a real second harmonic. Steer it in a straight line and the model represents a physical paradox — and its attention mechanism throws the edit away within four blocks.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Layer-wise probing for all three variables. Chance for direction is 90 degrees.</a:t>
            </a:r>
          </a:p>
          <a:p/>
          <a:p>
            <a:r>
              <a:t>THE HEADLINE. Everything is readable after ONE attention block. Direction goes from 66.9 degrees at layer 0 to 11.4 at layer 1; speed from 0.82 to 0.10; acceleration from 2.14 to 0.30. The paper reports direction emerging only at a sharp mid-depth transition. Here there is no step, just a steep rise and a glide.</a:t>
            </a:r>
          </a:p>
          <a:p/>
          <a:p>
            <a:r>
              <a:t>THE CONTROL that makes that a finding rather than an artefact: the worry is that the probe reads POSITION rather than direction. It does not — the frame-0 centroid alone scores 86.3 degrees against a chance of 90. So this is real, and most likely a dataset-simplicity effect: one high-contrast disk on an empty field.</a:t>
            </a:r>
          </a:p>
          <a:p/>
          <a:p>
            <a:r>
              <a:t>IF ASKED WHERE EACH VARIABLE 'BECOMES AVAILABLE': be careful with thresholds. R-squared clears 0.95 at layer 1 for both scalars and layer 4 for direction, but R-squared saturates far too early to be informative — at layer 4 direction still has twice its eventual error. On the native metric, the scalars are within 2x of their best at layer 1 and direction at layer 4; within 1.2x at layers 11, 11 and 13. Same ordering, but it says where each variable is genuinely finished.</a:t>
            </a:r>
          </a:p>
          <a:p/>
          <a:p>
            <a:r>
              <a:t>TWO THINGS TO FLAG. The tracker oracle beats every encoder probe — 1.19 degrees against 2.57 — so V-JEPA loses roughly half the recoverable signal. And pooling moves the apparent best layer by up to six layers, so a single-pooling curve would confound emergence with pooling dilution. A third, tracker-selected pooling exists but is excluded from interpretation: its mask is built from the trajectory, which is the label.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Removing the probe subspace drives direction from R-squared 0.99 to 0.01; removing the same number of random directions does nothing. THAT contrast is the finding — all three variables are carried by a highly redundant population code.</a:t>
            </a:r>
          </a:p>
          <a:p>
            <a:endParaRPr/>
          </a:p>
          <a:p>
            <a:r>
              <a:t>NOW THE CAREFUL PART, and volunteer it before anyone asks. Each INLP round removes one probe's readout subspace, and that subspace's rank is set by the TARGET, not by the representation: two dimensions for direction's sin-cos pair, one for a scalar. So direction spends dimensions twice as fast per round as pure bookkeeping.</a:t>
            </a:r>
          </a:p>
          <a:p>
            <a:endParaRPr/>
          </a:p>
          <a:p>
            <a:r>
              <a:t>Counted in ROUNDS — independent readouts extractable before the signal dies — the three are essentially equal: 71, 69, 67.</a:t>
            </a:r>
          </a:p>
          <a:p>
            <a:endParaRPr/>
          </a:p>
          <a:p>
            <a:r>
              <a:t>The decisive control is the right panel. Give direction a ONE-dimensional target on the same activations: sin theta alone costs 76 dimensions, cos theta alone 54 — squarely in the scalars' range of 67 to 69. The 142 is just 71 rounds times two.</a:t>
            </a:r>
          </a:p>
          <a:p>
            <a:endParaRPr/>
          </a:p>
          <a:p>
            <a:r>
              <a:t>So do NOT say direction is twice as redundant. Say: all three are equally redundant, and direction's readout is inherently two-dimensional, which is why controlling it costs twice the dimensions per readout. That framing sets up slide 5 exactly — a single probe cannot steer a two-dimensional readout.</a:t>
            </a:r>
          </a:p>
          <a:p>
            <a:endParaRPr/>
          </a:p>
          <a:p>
            <a:r>
              <a:t>One real asymmetry does survive, at the tail rather than the midpoint: reaching 10 percent of the original R-squared takes 133 rounds for direction against 114 and 103 for the scalars. About 1.2 times, not 2. Direction's signal persists a little longer into the low-signal regime.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principal component is almost purely one harmonic. PC1-2 are cos and sin of theta; PC3 is two theta; PC4 is four theta. The ladder is 1, 2, 4 — m=3 sits at the noise floor.</a:t>
            </a:r>
          </a:p>
          <a:p>
            <a:endParaRPr/>
          </a:p>
          <a:p>
            <a:r>
              <a:t>The 180-degree flip correlations say what the higher harmonics ARE. PC1 anti-correlates at -0.97: a direction code. PC3 and PC4 are invariant at +0.95 and +0.97: they encode the AXIS of motion, not which way along it. That is the direction-versus-orientation distinction from visual neuroscience, appearing unprompted. And the network builds it — the pixel trajectory is 97% pure first harmonic.</a:t>
            </a:r>
          </a:p>
          <a:p>
            <a:endParaRPr/>
          </a:p>
          <a:p>
            <a:r>
              <a:t>DO NOT claim this explains the dimensionality. It is tempting and it is wrong: PC3 alone reads direction at 99.8 degrees — worse than chance — and PC1-4 together only reach 11.1 against 2.57 for the full space. The harmonics explain the SHAPE, a non-planar closed loop, which is what sets the trap for linear steering. The dimensionality of slide 3 is spent suppressing nuisance.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paper's steering experiment, and the evaluation protocol is the part worth spelling out.</a:t>
            </a:r>
          </a:p>
          <a:p>
            <a:endParaRPr/>
          </a:p>
          <a:p>
            <a:r>
              <a:t>THREE INDEPENDENT HELD-OUT AXES. The evaluation probe is never one of the K that built the steering subspace, and it is fitted on clips disjoint from all of them. The clips being steered carry target values never seen during fitting. Without the probe split, 'steering worked' would only mean the intervention satisfied the very equations it solved.</a:t>
            </a:r>
          </a:p>
          <a:p>
            <a:endParaRPr/>
          </a:p>
          <a:p>
            <a:r>
              <a:t>LEFT PANEL, the result. A single probe closes 28 percent of the floor-to-ceiling gap for direction but 74 percent for either scalar. Direction needs K of at least two and is essentially solved by K around four. That is the causal counterpart of slide 3: a 2-dimensional readout cannot be driven along a single direction.</a:t>
            </a:r>
          </a:p>
          <a:p>
            <a:endParaRPr/>
          </a:p>
          <a:p>
            <a:r>
              <a:t>MIDDLE AND RIGHT, the cost. To build a subspace big enough to steer the ring you capture other kinematics with it. By dimension 16 every cell in the matrix leaks. Dimension 4 to 8 is the usable operating point.</a:t>
            </a:r>
          </a:p>
          <a:p>
            <a:endParaRPr/>
          </a:p>
          <a:p>
            <a:r>
              <a:t>TWO CELLS ARE BLANK, and that is a finding about the data. Speed and acceleration are mutually exclusive in every supplied dataset — no clip has both non-zero — so the coupling v = v0 + a t that would make that leakage interesting has been designed out of the stimulus set.</a:t>
            </a:r>
          </a:p>
          <a:p>
            <a:endParaRPr/>
          </a:p>
          <a:p>
            <a:r>
              <a:t>If asked what the intervention actually solves: minimise the L2 norm of delta-x subject to the probes reading the target. That is the Moore-Penrose minimum-norm edit, verified against a direct pseudo-inverse to three times ten to the minus fourteen. Smallest EUCLIDEAN step — which is exactly the setup for Act 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Wurgaft</a:t>
            </a:r>
            <a:r>
              <a:rPr dirty="0"/>
              <a:t> et al. warn that Euclidean steering goes off-manifold. Our data says that is NECESSARY BUT NOT SUFFICIENT.</a:t>
            </a:r>
          </a:p>
          <a:p>
            <a:endParaRPr dirty="0"/>
          </a:p>
          <a:p>
            <a:r>
              <a:rPr dirty="0"/>
              <a:t>The tempting explanation — direction is more curved — does not survive measurement. Speed's manifold is curved too, 4.68 against 6.59, and both chords sit 80 to 120 times off manifold in every pair we tested. Yet the </a:t>
            </a:r>
            <a:r>
              <a:rPr dirty="0" err="1"/>
              <a:t>behavioural</a:t>
            </a:r>
            <a:r>
              <a:rPr dirty="0"/>
              <a:t> penalty appears only for direction.</a:t>
            </a:r>
          </a:p>
          <a:p>
            <a:endParaRPr dirty="0"/>
          </a:p>
          <a:p>
            <a:r>
              <a:rPr dirty="0"/>
              <a:t>What separates them is TOPOLOGY. Speed's curve is open: the chord leaves it geometrically, but every point along it still decodes to a sensible intermediate speed. Direction's ring is closed, so a chord must cross the interior — a region that corresponds to no direction at all. Off-manifold only matters when the region you land in is semantically empty.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You might expect the </a:t>
            </a:r>
            <a:r>
              <a:rPr dirty="0" err="1"/>
              <a:t>centre</a:t>
            </a:r>
            <a:r>
              <a:rPr dirty="0"/>
              <a:t> of the ring to be the stationary state: left plus right equals nothing. IT IS NOT. Speed survives completely, and so does the axis of motion. Only the direction bit is removed.</a:t>
            </a:r>
          </a:p>
          <a:p>
            <a:endParaRPr dirty="0"/>
          </a:p>
          <a:p>
            <a:r>
              <a:rPr dirty="0"/>
              <a:t>So the model is holding: an object moving along this specific line, at 2.1 </a:t>
            </a:r>
            <a:r>
              <a:rPr dirty="0" err="1"/>
              <a:t>metres</a:t>
            </a:r>
            <a:r>
              <a:rPr dirty="0"/>
              <a:t> per second, with no fact about which of the two ways it is going. No clip in the dataset can be in that state.</a:t>
            </a:r>
          </a:p>
          <a:p>
            <a:endParaRPr dirty="0"/>
          </a:p>
          <a:p>
            <a:r>
              <a:rPr dirty="0"/>
              <a:t>And it falls straight out of slide 4. m=1 is anti-symmetric under a 180-degree flip, so the two endpoints cancel exactly at the midpoint. m=2 is invariant, so the axis rides through untouched. That is also why the collapse bottoms out precisely at t = 0.5.</a:t>
            </a:r>
          </a:p>
          <a:p>
            <a:endParaRPr dirty="0"/>
          </a:p>
          <a:p>
            <a:r>
              <a:rPr dirty="0"/>
              <a:t>This is the concrete version of 'unnatural output': not noise, but a structured, physically impossible state.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candidates. LAYERNORM IS NOT THE ANSWER — token norms and channel standard deviations sit within half a percent of the control, and only 0.6% of the edit lies along the all-ones direction that </a:t>
            </a:r>
            <a:r>
              <a:rPr dirty="0" err="1"/>
              <a:t>LayerNorm</a:t>
            </a:r>
            <a:r>
              <a:rPr dirty="0"/>
              <a:t> deletes.</a:t>
            </a:r>
          </a:p>
          <a:p>
            <a:endParaRPr dirty="0"/>
          </a:p>
          <a:p>
            <a:r>
              <a:rPr dirty="0"/>
              <a:t>The substantive result is that THE EDIT IS NOT REMOVED, IT IS ROTATED. 69% of the perturbation survives four blocks, while the component that points along the direction readout keeps only 32%. The network turns the intervention into something that no longer means direction.</a:t>
            </a:r>
          </a:p>
          <a:p>
            <a:endParaRPr dirty="0"/>
          </a:p>
          <a:p>
            <a:r>
              <a:rPr dirty="0"/>
              <a:t>Splitting by half-block: ATTENTION ACCOUNTS FOR 77% of the decay, concentrated in blocks 17 and 18. So the MLP is NOT acting as an error-correcting projection back onto the data distribution — that hypothesis predicts the opposite split. A uniform edit is invisible to the token-relative computation attention actually does.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Fit a periodic cubic spline through the per-value centroids and steer ALONG the curve. At the layer of the intervention this method is WORSE — 7.02 degrees against 5.32. Four blocks later the ordering flips hard.</a:t>
            </a:r>
          </a:p>
          <a:p/>
          <a:p>
            <a:r>
              <a:t>The reason is visible in the numbers. Multi-probe steering solves for probe readouts and OVERSHOOTS to do it — alignment 1.33, well past the unit norm of a natural representation. That excess is exactly what attention discards. The spline edit lands at 1.03 and is kept.</a:t>
            </a:r>
          </a:p>
          <a:p/>
          <a:p>
            <a:r>
              <a:t>Most telling: the spline puts LESS of itself in the readout subspace at injection, 0.09 against 0.32, yet survives far better. It is not pushing harder along the probe direction — it is moving the representation the way the network's own geometry moves it.</a:t>
            </a:r>
          </a:p>
          <a:p/>
          <a:p>
            <a:r>
              <a:t>CONTROL, IF CHALLENGED ON EDIT SIZE. The two edits differ in magnitude — 8.5 for multi-probe, 22.1 for the spline — so someone will ask whether the bigger edit simply survives better. Rescaling the multi-probe edit settles it, and the confound runs the OTHER way: retention FALLS as the Euclidean edit grows. Half size retains 31 percent, normal size 25, double 22, and at 2.6 times — matching the spline's norm exactly — 21 percent against the spline's 76. At matched magnitude the gap widens from three times to three point six.</a:t>
            </a:r>
          </a:p>
          <a:p/>
          <a:p>
            <a:r>
              <a:t>The sharpest way to say it: give the Euclidean edit THREE TIMES the initial alignment, plus the same perturbation budget, and it still ends up BELOW the spline four blocks later — 0.686 against 0.783. What survives is not how hard you push. It is whether you push somewhere the network maintains.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direct parallel to LLM interpretability, and it is worth saying where it comes from. </a:t>
            </a:r>
            <a:r>
              <a:rPr dirty="0" err="1"/>
              <a:t>Anthropic's</a:t>
            </a:r>
            <a:r>
              <a:rPr dirty="0"/>
              <a:t> Scaling </a:t>
            </a:r>
            <a:r>
              <a:rPr dirty="0" err="1"/>
              <a:t>Monosemanticity</a:t>
            </a:r>
            <a:r>
              <a:rPr dirty="0"/>
              <a:t> work — Templeton and colleagues, 2024 — steers Claude 3 Sonnet by CLAMPING a sparse-autoencoder feature's activation during the forward pass, typically to something like ten times its maximum observed value. Golden Gate Claude is that technique.</a:t>
            </a:r>
          </a:p>
          <a:p>
            <a:endParaRPr dirty="0"/>
          </a:p>
          <a:p>
            <a:r>
              <a:rPr dirty="0"/>
              <a:t>BE PRECISE ABOUT THE ADAPTATION. They clamp at one layer across token positions through a generation. A video encoder has no generation to run along, so the natural analogue of 'keep asserting it as computation proceeds' is across BLOCKS. Same idea, different axis of repetition. It is an adaptation, not a replication.</a:t>
            </a:r>
          </a:p>
          <a:p>
            <a:endParaRPr dirty="0"/>
          </a:p>
          <a:p>
            <a:r>
              <a:rPr dirty="0"/>
              <a:t>THE RESULT: IT WORKS. At four blocks downstream, clamping more than doubles the retained effect over a one-shot edit — 0.79 against 0.36. Continuous feature clamping transfers from language models to a video world model without modification.</a:t>
            </a:r>
          </a:p>
          <a:p>
            <a:endParaRPr dirty="0"/>
          </a:p>
          <a:p>
            <a:r>
              <a:rPr dirty="0"/>
              <a:t>TWO CAVEATS First, re-injecting the same delta four times is NOT clamping — it accumulates, drives alignment to 1.30, past the norm of any natural representation, at four times the perturbation cost. True clamping applies the minimum-norm correction each block and is self-limiting. Second, the comparison has to match subspace size: clamping with a single probe reaches only 0.54, so a K=1 clamp against a K=16 one-shot edit would have made clamping look worse than it is.</a:t>
            </a:r>
          </a:p>
          <a:p>
            <a:endParaRPr dirty="0"/>
          </a:p>
          <a:p>
            <a:r>
              <a:rPr dirty="0"/>
              <a:t>AND THE PUNCHLINE. Clamping costs four interventions and a total perturbation of 20.2 to reach 0.79. The single on-manifold spline edit costs 22.1 — essentially the same — and reaches 0.88, and by eight blocks it leads two to one. So: you can fight the attention mechanism at every layer, or you can make one edit it does not want to undo.</a:t>
            </a:r>
          </a:p>
          <a:p>
            <a:endParaRPr dirty="0"/>
          </a:p>
          <a:p>
            <a:r>
              <a:rPr dirty="0"/>
              <a:t>One thing that cuts against intuition: the spline is the LARGER one-shot perturbation, 22.1 against 8.5. It is not about moving less. It is about moving along a direction the network maintains.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multi-probe intervention solves: minimise the L2 norm of delta-x subject to W times (x plus delta-x) plus b equals y. That is the Moore-Penrose solution, which I verified against a direct pseudo-inverse to three times ten to the minus fourteen. It is the SMALLEST EUCLIDEAN STEP satisfying K linear constraints.</a:t>
            </a:r>
          </a:p>
          <a:p>
            <a:endParaRPr/>
          </a:p>
          <a:p>
            <a:r>
              <a:t>And Euclidean smallness is measured in the ambient activation space, which knows nothing about where the data lives. So the solution is free to cut across the manifold, and on a closed geometry the shortest chord runs through the empty centre. The failure is not a bug in the solver — it is what minimising the wrong norm buys you.</a:t>
            </a:r>
          </a:p>
          <a:p>
            <a:endParaRPr/>
          </a:p>
          <a:p>
            <a:r>
              <a:t>Where I would take this next: whether the 3x retention gap widens by the final layer, and whether any of it holds on real video, where the manifolds are not this clean. Happy to go wherever is most useful.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W</a:t>
            </a:r>
            <a:r>
              <a:t>hether </a:t>
            </a:r>
            <a:r>
              <a:rPr dirty="0"/>
              <a:t>the off-manifold state is a noisy variant of a real one.</a:t>
            </a:r>
          </a:p>
          <a:p>
            <a:endParaRPr dirty="0"/>
          </a:p>
          <a:p>
            <a:r>
              <a:rPr dirty="0"/>
              <a:t>THREE TESTS, AND THE INTUITIVE ONE FAILS.</a:t>
            </a:r>
          </a:p>
          <a:p>
            <a:endParaRPr dirty="0"/>
          </a:p>
          <a:p>
            <a:r>
              <a:rPr dirty="0"/>
              <a:t>Test 1, the bootstrap tube: the chord sits 2.4 times outside the 95% tube at its worst point, and 51% of its length is outside. Real, but weaker than it sounds — the tube is about 38% of the ring radius, so 1,148 clips do not pin the manifold that tightly.</a:t>
            </a:r>
          </a:p>
          <a:p>
            <a:endParaRPr dirty="0"/>
          </a:p>
          <a:p>
            <a:r>
              <a:rPr dirty="0"/>
              <a:t>Test 2, distance from the curve: THIS ONE FAILS. A real clip sits 17.2 from the centroid curve on average. The chord midpoint sits 13.0 — closer than 77% of real clips. If someone argues 'it is only 13 out and real data is 17 out', they are CORRECT. Do not claim distance-from-curve proves anything.</a:t>
            </a:r>
          </a:p>
          <a:p>
            <a:endParaRPr dirty="0"/>
          </a:p>
          <a:p>
            <a:r>
              <a:rPr dirty="0"/>
              <a:t>Test 3, the radial shell, is decisive. In 64 dimensions the data occupies a shell, not a ball. Real clips sit at radius 15.8 minimum, 23.7 median. The midpoint sits at 5.1. ZERO of 1,148 clips are that close to the </a:t>
            </a:r>
            <a:r>
              <a:rPr dirty="0" err="1"/>
              <a:t>centre</a:t>
            </a:r>
            <a:r>
              <a:rPr dirty="0"/>
              <a:t> — z-score minus 4.1, and 0.32 times the radius of the closest real clip.</a:t>
            </a:r>
          </a:p>
          <a:p>
            <a:endParaRPr dirty="0"/>
          </a:p>
          <a:p>
            <a:r>
              <a:rPr dirty="0"/>
              <a:t>So: the midpoint occupies a region no training clip occupies. Lead with 0-of-1148, not the tube.</a:t>
            </a:r>
          </a:p>
          <a:p>
            <a:endParaRPr dirty="0"/>
          </a:p>
          <a:p>
            <a:r>
              <a:rPr dirty="0"/>
              <a:t>General lesson worth one sentence: in high dimensions an off-distribution point is often CLOSER to the mean than real data is, not farther. Distance-to-the-fit is the wrong diagnostic; occupancy of the region is the right 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OPENING</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thesis</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To control a world model, follow its geometry</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V-JEPA 2 ViT-L/16, frozen. 4,572 synthetic clips of one disk moving on an empty field. Speed and acceleration turn out to be ordinary scalars. Direction is a ring — and that difference decides whether you can steer it.</a:t>
            </a:r>
          </a:p>
        </p:txBody>
      </p:sp>
      <p:pic>
        <p:nvPicPr>
          <p:cNvPr id="7" name="Picture 6" descr="d1_linear_vs_manifold.png"/>
          <p:cNvPicPr>
            <a:picLocks noChangeAspect="1"/>
          </p:cNvPicPr>
          <p:nvPr/>
        </p:nvPicPr>
        <p:blipFill>
          <a:blip r:embed="rId3"/>
          <a:stretch>
            <a:fillRect/>
          </a:stretch>
        </p:blipFill>
        <p:spPr>
          <a:xfrm>
            <a:off x="2191600" y="2633472"/>
            <a:ext cx="7808494"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CLIPS</a:t>
            </a:r>
          </a:p>
        </p:txBody>
      </p:sp>
      <p:sp>
        <p:nvSpPr>
          <p:cNvPr id="10" name="TextBox 9"/>
          <p:cNvSpPr txBox="1"/>
          <p:nvPr/>
        </p:nvSpPr>
        <p:spPr>
          <a:xfrm>
            <a:off x="658368" y="5897880"/>
            <a:ext cx="3350666" cy="274320"/>
          </a:xfrm>
          <a:prstGeom prst="rect">
            <a:avLst/>
          </a:prstGeom>
          <a:noFill/>
        </p:spPr>
        <p:txBody>
          <a:bodyPr wrap="square" lIns="0" tIns="0" rIns="0" bIns="0" anchor="t">
            <a:spAutoFit/>
          </a:bodyPr>
          <a:lstStyle/>
          <a:p>
            <a:pPr algn="l"/>
            <a:r>
              <a:rPr sz="1500" b="1" i="0">
                <a:solidFill>
                  <a:srgbClr val="17191C"/>
                </a:solidFill>
                <a:latin typeface="Menlo"/>
              </a:rPr>
              <a:t>4,572</a:t>
            </a:r>
          </a:p>
        </p:txBody>
      </p:sp>
      <p:sp>
        <p:nvSpPr>
          <p:cNvPr id="11" name="TextBox 10"/>
          <p:cNvSpPr txBox="1"/>
          <p:nvPr/>
        </p:nvSpPr>
        <p:spPr>
          <a:xfrm>
            <a:off x="658368"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direction · speed · acceleration</a:t>
            </a:r>
          </a:p>
        </p:txBody>
      </p:sp>
      <p:cxnSp>
        <p:nvCxnSpPr>
          <p:cNvPr id="12" name="Connector 11"/>
          <p:cNvCxnSpPr/>
          <p:nvPr/>
        </p:nvCxnSpPr>
        <p:spPr>
          <a:xfrm>
            <a:off x="4283354"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29658"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RESIDUAL STREAM</a:t>
            </a:r>
          </a:p>
        </p:txBody>
      </p:sp>
      <p:sp>
        <p:nvSpPr>
          <p:cNvPr id="14" name="TextBox 13"/>
          <p:cNvSpPr txBox="1"/>
          <p:nvPr/>
        </p:nvSpPr>
        <p:spPr>
          <a:xfrm>
            <a:off x="4429658" y="5897880"/>
            <a:ext cx="3350666" cy="274320"/>
          </a:xfrm>
          <a:prstGeom prst="rect">
            <a:avLst/>
          </a:prstGeom>
          <a:noFill/>
        </p:spPr>
        <p:txBody>
          <a:bodyPr wrap="square" lIns="0" tIns="0" rIns="0" bIns="0" anchor="t">
            <a:spAutoFit/>
          </a:bodyPr>
          <a:lstStyle/>
          <a:p>
            <a:pPr algn="l"/>
            <a:r>
              <a:rPr sz="1500" b="1" i="0">
                <a:solidFill>
                  <a:srgbClr val="17191C"/>
                </a:solidFill>
                <a:latin typeface="Menlo"/>
              </a:rPr>
              <a:t>26 states</a:t>
            </a:r>
          </a:p>
        </p:txBody>
      </p:sp>
      <p:sp>
        <p:nvSpPr>
          <p:cNvPr id="15" name="TextBox 14"/>
          <p:cNvSpPr txBox="1"/>
          <p:nvPr/>
        </p:nvSpPr>
        <p:spPr>
          <a:xfrm>
            <a:off x="4429658"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layers 0–24 plus post-LayerNorm</a:t>
            </a:r>
          </a:p>
        </p:txBody>
      </p:sp>
      <p:cxnSp>
        <p:nvCxnSpPr>
          <p:cNvPr id="16" name="Connector 15"/>
          <p:cNvCxnSpPr/>
          <p:nvPr/>
        </p:nvCxnSpPr>
        <p:spPr>
          <a:xfrm>
            <a:off x="7908340"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54644"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ENCODER</a:t>
            </a:r>
          </a:p>
        </p:txBody>
      </p:sp>
      <p:sp>
        <p:nvSpPr>
          <p:cNvPr id="18" name="TextBox 17"/>
          <p:cNvSpPr txBox="1"/>
          <p:nvPr/>
        </p:nvSpPr>
        <p:spPr>
          <a:xfrm>
            <a:off x="8054644" y="5897880"/>
            <a:ext cx="3350666" cy="274320"/>
          </a:xfrm>
          <a:prstGeom prst="rect">
            <a:avLst/>
          </a:prstGeom>
          <a:noFill/>
        </p:spPr>
        <p:txBody>
          <a:bodyPr wrap="square" lIns="0" tIns="0" rIns="0" bIns="0" anchor="t">
            <a:spAutoFit/>
          </a:bodyPr>
          <a:lstStyle/>
          <a:p>
            <a:pPr algn="l"/>
            <a:r>
              <a:rPr sz="1500" b="1" i="0">
                <a:solidFill>
                  <a:srgbClr val="0B4F6C"/>
                </a:solidFill>
                <a:latin typeface="Menlo"/>
              </a:rPr>
              <a:t>frozen</a:t>
            </a:r>
          </a:p>
        </p:txBody>
      </p:sp>
      <p:sp>
        <p:nvSpPr>
          <p:cNvPr id="19" name="TextBox 18"/>
          <p:cNvSpPr txBox="1"/>
          <p:nvPr/>
        </p:nvSpPr>
        <p:spPr>
          <a:xfrm>
            <a:off x="8054644"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probes and splines fitted on top</a:t>
            </a:r>
          </a:p>
        </p:txBody>
      </p:sp>
      <p:sp>
        <p:nvSpPr>
          <p:cNvPr id="20" name="TextBox 19"/>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1" name="TextBox 20"/>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1 — WHAT IS THERE</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  ·  F2  ·  F6</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a:solidFill>
                  <a:srgbClr val="17191C"/>
                </a:solidFill>
                <a:latin typeface="Futura"/>
              </a:rPr>
              <a:t>Physics is readable almost immediately</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a:solidFill>
                  <a:srgbClr val="71757B"/>
                </a:solidFill>
                <a:latin typeface="Avenir Next"/>
              </a:rPr>
              <a:t>Layer-wise linear probes for all three variables, on held-out label values. The dash-dot line is what a perfect pixel tracker achieves on the same clips. Layer 0 is omitted — it is off-scale in every panel.</a:t>
            </a:r>
          </a:p>
        </p:txBody>
      </p:sp>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3350666" cy="201168"/>
          </a:xfrm>
          <a:prstGeom prst="rect">
            <a:avLst/>
          </a:prstGeom>
          <a:noFill/>
        </p:spPr>
        <p:txBody>
          <a:bodyPr wrap="square" lIns="0" tIns="0" rIns="0" bIns="0" anchor="t">
            <a:spAutoFit/>
          </a:bodyPr>
          <a:lstStyle/>
          <a:p>
            <a:pPr algn="l"/>
            <a:r>
              <a:rPr sz="800" b="0" spc="120">
                <a:solidFill>
                  <a:srgbClr val="71757B"/>
                </a:solidFill>
                <a:latin typeface="Menlo"/>
              </a:rPr>
              <a:t>LAYER 0 → 1</a:t>
            </a:r>
          </a:p>
        </p:txBody>
      </p:sp>
      <p:sp>
        <p:nvSpPr>
          <p:cNvPr id="10" name="TextBox 9"/>
          <p:cNvSpPr txBox="1"/>
          <p:nvPr/>
        </p:nvSpPr>
        <p:spPr>
          <a:xfrm>
            <a:off x="658368" y="5897880"/>
            <a:ext cx="3350666" cy="274320"/>
          </a:xfrm>
          <a:prstGeom prst="rect">
            <a:avLst/>
          </a:prstGeom>
          <a:noFill/>
        </p:spPr>
        <p:txBody>
          <a:bodyPr wrap="square" lIns="0" tIns="0" rIns="0" bIns="0" anchor="t">
            <a:spAutoFit/>
          </a:bodyPr>
          <a:lstStyle/>
          <a:p>
            <a:pPr algn="l"/>
            <a:r>
              <a:rPr sz="1500" b="1">
                <a:solidFill>
                  <a:srgbClr val="B03A2E"/>
                </a:solidFill>
                <a:latin typeface="Menlo"/>
              </a:rPr>
              <a:t>66.9° → 11.4°</a:t>
            </a:r>
          </a:p>
        </p:txBody>
      </p:sp>
      <p:sp>
        <p:nvSpPr>
          <p:cNvPr id="11" name="TextBox 10"/>
          <p:cNvSpPr txBox="1"/>
          <p:nvPr/>
        </p:nvSpPr>
        <p:spPr>
          <a:xfrm>
            <a:off x="658368" y="6190488"/>
            <a:ext cx="3350666" cy="237744"/>
          </a:xfrm>
          <a:prstGeom prst="rect">
            <a:avLst/>
          </a:prstGeom>
          <a:noFill/>
        </p:spPr>
        <p:txBody>
          <a:bodyPr wrap="square" lIns="0" tIns="0" rIns="0" bIns="0" anchor="t">
            <a:spAutoFit/>
          </a:bodyPr>
          <a:lstStyle/>
          <a:p>
            <a:pPr algn="l"/>
            <a:r>
              <a:rPr sz="900" b="0">
                <a:solidFill>
                  <a:srgbClr val="71757B"/>
                </a:solidFill>
                <a:latin typeface="Avenir Next"/>
              </a:rPr>
              <a:t>one attention block does it</a:t>
            </a:r>
          </a:p>
        </p:txBody>
      </p:sp>
      <p:cxnSp>
        <p:nvCxnSpPr>
          <p:cNvPr id="12" name="Connector 11"/>
          <p:cNvCxnSpPr/>
          <p:nvPr/>
        </p:nvCxnSpPr>
        <p:spPr>
          <a:xfrm>
            <a:off x="4283354"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29658" y="5678424"/>
            <a:ext cx="3350666" cy="201168"/>
          </a:xfrm>
          <a:prstGeom prst="rect">
            <a:avLst/>
          </a:prstGeom>
          <a:noFill/>
        </p:spPr>
        <p:txBody>
          <a:bodyPr wrap="square" lIns="0" tIns="0" rIns="0" bIns="0" anchor="t">
            <a:spAutoFit/>
          </a:bodyPr>
          <a:lstStyle/>
          <a:p>
            <a:pPr algn="l"/>
            <a:r>
              <a:rPr sz="800" b="0" spc="120">
                <a:solidFill>
                  <a:srgbClr val="71757B"/>
                </a:solidFill>
                <a:latin typeface="Menlo"/>
              </a:rPr>
              <a:t>BEST, ALL THREE</a:t>
            </a:r>
          </a:p>
        </p:txBody>
      </p:sp>
      <p:sp>
        <p:nvSpPr>
          <p:cNvPr id="14" name="TextBox 13"/>
          <p:cNvSpPr txBox="1"/>
          <p:nvPr/>
        </p:nvSpPr>
        <p:spPr>
          <a:xfrm>
            <a:off x="4429658" y="5897880"/>
            <a:ext cx="3350666" cy="274320"/>
          </a:xfrm>
          <a:prstGeom prst="rect">
            <a:avLst/>
          </a:prstGeom>
          <a:noFill/>
        </p:spPr>
        <p:txBody>
          <a:bodyPr wrap="square" lIns="0" tIns="0" rIns="0" bIns="0" anchor="t">
            <a:spAutoFit/>
          </a:bodyPr>
          <a:lstStyle/>
          <a:p>
            <a:pPr algn="l"/>
            <a:r>
              <a:rPr sz="1300" b="1">
                <a:solidFill>
                  <a:srgbClr val="1E7A4E"/>
                </a:solidFill>
                <a:latin typeface="Menlo"/>
              </a:rPr>
              <a:t>L16 / L14 / L14</a:t>
            </a:r>
          </a:p>
        </p:txBody>
      </p:sp>
      <p:sp>
        <p:nvSpPr>
          <p:cNvPr id="15" name="TextBox 14"/>
          <p:cNvSpPr txBox="1"/>
          <p:nvPr/>
        </p:nvSpPr>
        <p:spPr>
          <a:xfrm>
            <a:off x="4429658" y="6190488"/>
            <a:ext cx="3350666" cy="237744"/>
          </a:xfrm>
          <a:prstGeom prst="rect">
            <a:avLst/>
          </a:prstGeom>
          <a:noFill/>
        </p:spPr>
        <p:txBody>
          <a:bodyPr wrap="square" lIns="0" tIns="0" rIns="0" bIns="0" anchor="t">
            <a:spAutoFit/>
          </a:bodyPr>
          <a:lstStyle/>
          <a:p>
            <a:pPr algn="l"/>
            <a:r>
              <a:rPr sz="900" b="0">
                <a:solidFill>
                  <a:srgbClr val="71757B"/>
                </a:solidFill>
                <a:latin typeface="Avenir Next"/>
              </a:rPr>
              <a:t>2.57° · 0.056 · 0.153</a:t>
            </a:r>
          </a:p>
        </p:txBody>
      </p:sp>
      <p:cxnSp>
        <p:nvCxnSpPr>
          <p:cNvPr id="16" name="Connector 15"/>
          <p:cNvCxnSpPr/>
          <p:nvPr/>
        </p:nvCxnSpPr>
        <p:spPr>
          <a:xfrm>
            <a:off x="7908340"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54644" y="5678424"/>
            <a:ext cx="3350666" cy="201168"/>
          </a:xfrm>
          <a:prstGeom prst="rect">
            <a:avLst/>
          </a:prstGeom>
          <a:noFill/>
        </p:spPr>
        <p:txBody>
          <a:bodyPr wrap="square" lIns="0" tIns="0" rIns="0" bIns="0" anchor="t">
            <a:spAutoFit/>
          </a:bodyPr>
          <a:lstStyle/>
          <a:p>
            <a:pPr algn="l"/>
            <a:r>
              <a:rPr sz="800" b="0" spc="120">
                <a:solidFill>
                  <a:srgbClr val="71757B"/>
                </a:solidFill>
                <a:latin typeface="Menlo"/>
              </a:rPr>
              <a:t>TRACKER ORACLE</a:t>
            </a:r>
          </a:p>
        </p:txBody>
      </p:sp>
      <p:sp>
        <p:nvSpPr>
          <p:cNvPr id="18" name="TextBox 17"/>
          <p:cNvSpPr txBox="1"/>
          <p:nvPr/>
        </p:nvSpPr>
        <p:spPr>
          <a:xfrm>
            <a:off x="8054644" y="5897880"/>
            <a:ext cx="3350666" cy="274320"/>
          </a:xfrm>
          <a:prstGeom prst="rect">
            <a:avLst/>
          </a:prstGeom>
          <a:noFill/>
        </p:spPr>
        <p:txBody>
          <a:bodyPr wrap="square" lIns="0" tIns="0" rIns="0" bIns="0" anchor="t">
            <a:spAutoFit/>
          </a:bodyPr>
          <a:lstStyle/>
          <a:p>
            <a:pPr algn="l"/>
            <a:r>
              <a:rPr sz="1300" b="1">
                <a:solidFill>
                  <a:srgbClr val="0B4F6C"/>
                </a:solidFill>
                <a:latin typeface="Menlo"/>
              </a:rPr>
              <a:t>1.19° · 0.011 · 0.036</a:t>
            </a:r>
          </a:p>
        </p:txBody>
      </p:sp>
      <p:sp>
        <p:nvSpPr>
          <p:cNvPr id="19" name="TextBox 18"/>
          <p:cNvSpPr txBox="1"/>
          <p:nvPr/>
        </p:nvSpPr>
        <p:spPr>
          <a:xfrm>
            <a:off x="8054644" y="6190488"/>
            <a:ext cx="3350666" cy="237744"/>
          </a:xfrm>
          <a:prstGeom prst="rect">
            <a:avLst/>
          </a:prstGeom>
          <a:noFill/>
        </p:spPr>
        <p:txBody>
          <a:bodyPr wrap="square" lIns="0" tIns="0" rIns="0" bIns="0" anchor="t">
            <a:spAutoFit/>
          </a:bodyPr>
          <a:lstStyle/>
          <a:p>
            <a:pPr algn="l"/>
            <a:r>
              <a:rPr sz="900" b="0">
                <a:solidFill>
                  <a:srgbClr val="71757B"/>
                </a:solidFill>
                <a:latin typeface="Avenir Next"/>
              </a:rPr>
              <a:t>the encoder never reaches it</a:t>
            </a:r>
          </a:p>
        </p:txBody>
      </p:sp>
      <p:sp>
        <p:nvSpPr>
          <p:cNvPr id="20" name="TextBox 19"/>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1" name="TextBox 20"/>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02</a:t>
            </a:r>
          </a:p>
        </p:txBody>
      </p:sp>
      <p:pic>
        <p:nvPicPr>
          <p:cNvPr id="22" name="Picture 21" descr="layer_sweep_all.png"/>
          <p:cNvPicPr>
            <a:picLocks noChangeAspect="1"/>
          </p:cNvPicPr>
          <p:nvPr/>
        </p:nvPicPr>
        <p:blipFill>
          <a:blip r:embed="rId4"/>
          <a:stretch>
            <a:fillRect/>
          </a:stretch>
        </p:blipFill>
        <p:spPr>
          <a:xfrm>
            <a:off x="2953512" y="3042636"/>
            <a:ext cx="6291072" cy="18791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1 — WHAT IS THERE</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F3</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a:solidFill>
                  <a:srgbClr val="17191C"/>
                </a:solidFill>
                <a:latin typeface="Futura"/>
              </a:rPr>
              <a:t>Everything is redundant — direction just reads wider</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a:solidFill>
                  <a:srgbClr val="71757B"/>
                </a:solidFill>
                <a:latin typeface="Avenir Next"/>
              </a:rPr>
              <a:t>Iterative nullspace probing: fit a probe, project its readout subspace out, refit, repeat. The dotted lines remove random subspaces instead — the control that makes the curve mean anything.</a:t>
            </a:r>
          </a:p>
        </p:txBody>
      </p:sp>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PROBE-DIRECTED REMOVAL</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a:solidFill>
                  <a:srgbClr val="B03A2E"/>
                </a:solidFill>
                <a:latin typeface="Menlo"/>
              </a:rPr>
              <a:t>0.99 → 0.01</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the signal is destroyed</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RANDOM REMOVAL, SAME N</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a:solidFill>
                  <a:srgbClr val="0B4F6C"/>
                </a:solidFill>
                <a:latin typeface="Menlo"/>
              </a:rPr>
              <a:t>0.99 → 0.99</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flat — the control</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INDEPENDENT READOUTS</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a:solidFill>
                  <a:srgbClr val="1E7A4E"/>
                </a:solidFill>
                <a:latin typeface="Menlo"/>
              </a:rPr>
              <a:t>71 / 69 / 67</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dir / speed / accel — equal</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DIMENSIONS TO HALVE</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a:solidFill>
                  <a:srgbClr val="71757B"/>
                </a:solidFill>
                <a:latin typeface="Menlo"/>
              </a:rPr>
              <a:t>142 / 69 / 67</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2× is readout rank, not redundancy</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03</a:t>
            </a:r>
          </a:p>
        </p:txBody>
      </p:sp>
      <p:pic>
        <p:nvPicPr>
          <p:cNvPr id="26" name="Picture 25" descr="nullspace_combined.png"/>
          <p:cNvPicPr>
            <a:picLocks noChangeAspect="1"/>
          </p:cNvPicPr>
          <p:nvPr/>
        </p:nvPicPr>
        <p:blipFill>
          <a:blip r:embed="rId3"/>
          <a:stretch>
            <a:fillRect/>
          </a:stretch>
        </p:blipFill>
        <p:spPr>
          <a:xfrm>
            <a:off x="2952152" y="2877007"/>
            <a:ext cx="6287389" cy="22104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1 — WHAT IS THERE</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F13</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The model invents a Fourier ladder</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The 64 directions are equally spaced, so a DFT of the per-angle centroids reads the harmonic content off directly. Noise floor from splitting the repetitions in half.</a:t>
            </a:r>
          </a:p>
        </p:txBody>
      </p:sp>
      <p:pic>
        <p:nvPicPr>
          <p:cNvPr id="7" name="Picture 6" descr="harmonics_direction.png"/>
          <p:cNvPicPr>
            <a:picLocks noChangeAspect="1"/>
          </p:cNvPicPr>
          <p:nvPr/>
        </p:nvPicPr>
        <p:blipFill>
          <a:blip r:embed="rId3"/>
          <a:stretch>
            <a:fillRect/>
          </a:stretch>
        </p:blipFill>
        <p:spPr>
          <a:xfrm>
            <a:off x="2175678" y="2633472"/>
            <a:ext cx="7840339"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M = 1 · DIRECTION</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i="0">
                <a:solidFill>
                  <a:srgbClr val="0B4F6C"/>
                </a:solidFill>
                <a:latin typeface="Menlo"/>
              </a:rPr>
              <a:t>73.2%</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PC1–PC2, R² 0.99</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M = 2 · AXIS</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18.7%</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PC3 — invariant to a 180° flip</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M = 3</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i="0">
                <a:solidFill>
                  <a:srgbClr val="17191C"/>
                </a:solidFill>
                <a:latin typeface="Menlo"/>
              </a:rPr>
              <a:t>at noise</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SNR 3.4 — absent</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M = 4</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3.0%</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PC4, R² 0.87</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2 — THE LINEAR TRAP</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F8  ·  F8b</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a:solidFill>
                  <a:srgbClr val="17191C"/>
                </a:solidFill>
                <a:latin typeface="Futura"/>
              </a:rPr>
              <a:t>Steering direction needs a coordinated subspace</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a:solidFill>
                  <a:srgbClr val="71757B"/>
                </a:solidFill>
                <a:latin typeface="Avenir Next"/>
              </a:rPr>
              <a:t>Stack K probe readouts, solve for the coordinates that make them all read the target. Evaluated with a HELD-OUT probe — never one of the K that built the basis — on held-out label values.</a:t>
            </a:r>
          </a:p>
        </p:txBody>
      </p:sp>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DIRECTION, K = 1</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a:solidFill>
                  <a:srgbClr val="B03A2E"/>
                </a:solidFill>
                <a:latin typeface="Menlo"/>
              </a:rPr>
              <a:t>28%</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of the gap closed — barely works</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DIRECTION, K = 4</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a:solidFill>
                  <a:srgbClr val="1E7A4E"/>
                </a:solidFill>
                <a:latin typeface="Menlo"/>
              </a:rPr>
              <a:t>97%</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a coordinated subspace works</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EITHER SCALAR, K = 1</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a:solidFill>
                  <a:srgbClr val="0B4F6C"/>
                </a:solidFill>
                <a:latin typeface="Menlo"/>
              </a:rPr>
              <a:t>74%</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one probe is enough</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spc="120">
                <a:solidFill>
                  <a:srgbClr val="71757B"/>
                </a:solidFill>
                <a:latin typeface="Menlo"/>
              </a:rPr>
              <a:t>LEAKAGE AT DIM 16</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a:solidFill>
                  <a:srgbClr val="B03A2E"/>
                </a:solidFill>
                <a:latin typeface="Menlo"/>
              </a:rPr>
              <a:t>every cell</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a:solidFill>
                  <a:srgbClr val="71757B"/>
                </a:solidFill>
                <a:latin typeface="Avenir Next"/>
              </a:rPr>
              <a:t>specificity is gone</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05</a:t>
            </a:r>
          </a:p>
        </p:txBody>
      </p:sp>
      <p:pic>
        <p:nvPicPr>
          <p:cNvPr id="26" name="Picture 25" descr="steering_combined.png"/>
          <p:cNvPicPr>
            <a:picLocks noChangeAspect="1"/>
          </p:cNvPicPr>
          <p:nvPr/>
        </p:nvPicPr>
        <p:blipFill>
          <a:blip r:embed="rId3"/>
          <a:stretch>
            <a:fillRect/>
          </a:stretch>
        </p:blipFill>
        <p:spPr>
          <a:xfrm>
            <a:off x="2878277" y="3042013"/>
            <a:ext cx="6435139" cy="18803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2 — THE LINEAR TRAP</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F11  ·  F12</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It is topology, not curvature</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Endpoints are identical by construction, so the only difference between the two routes is the path taken. Both chords leave the data manifold by a similar margin. Only one of them breaks the model.</a:t>
            </a:r>
          </a:p>
        </p:txBody>
      </p:sp>
      <p:pic>
        <p:nvPicPr>
          <p:cNvPr id="7" name="Picture 6" descr="d6_topology.png"/>
          <p:cNvPicPr>
            <a:picLocks noChangeAspect="1"/>
          </p:cNvPicPr>
          <p:nvPr/>
        </p:nvPicPr>
        <p:blipFill>
          <a:blip r:embed="rId3"/>
          <a:stretch>
            <a:fillRect/>
          </a:stretch>
        </p:blipFill>
        <p:spPr>
          <a:xfrm>
            <a:off x="2386812" y="2633472"/>
            <a:ext cx="7418070"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SPEED · ARCLENGTH ÷ CHORD</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i="0">
                <a:solidFill>
                  <a:srgbClr val="0B4F6C"/>
                </a:solidFill>
                <a:latin typeface="Menlo"/>
              </a:rPr>
              <a:t>4.68</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strongly curved too</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DIRECTION · ARCLENGTH ÷ CHORD</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6.59</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similar curvature</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OFF-MANIFOLD, BOTH</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i="0">
                <a:solidFill>
                  <a:srgbClr val="17191C"/>
                </a:solidFill>
                <a:latin typeface="Menlo"/>
              </a:rPr>
              <a:t>80–120×</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in 100% of value pairs</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BEHAVIOURAL PENALTY</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direction only</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speed is untouched</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2 — THE LINEAR TRAP</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F12b</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A physically impossible state</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Reading three probes at the midpoint of the linear direction chord. Run on the clips where theta and speed are decorrelated, so the speed probe is clean.</a:t>
            </a:r>
          </a:p>
        </p:txBody>
      </p:sp>
      <p:pic>
        <p:nvPicPr>
          <p:cNvPr id="7" name="Picture 6" descr="ghost_state.png"/>
          <p:cNvPicPr>
            <a:picLocks noChangeAspect="1"/>
          </p:cNvPicPr>
          <p:nvPr/>
        </p:nvPicPr>
        <p:blipFill>
          <a:blip r:embed="rId3"/>
          <a:stretch>
            <a:fillRect/>
          </a:stretch>
        </p:blipFill>
        <p:spPr>
          <a:xfrm>
            <a:off x="3730046" y="2633472"/>
            <a:ext cx="4731602"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SPEED</a:t>
            </a:r>
          </a:p>
        </p:txBody>
      </p:sp>
      <p:sp>
        <p:nvSpPr>
          <p:cNvPr id="10" name="TextBox 9"/>
          <p:cNvSpPr txBox="1"/>
          <p:nvPr/>
        </p:nvSpPr>
        <p:spPr>
          <a:xfrm>
            <a:off x="658368" y="5897880"/>
            <a:ext cx="3350666" cy="274320"/>
          </a:xfrm>
          <a:prstGeom prst="rect">
            <a:avLst/>
          </a:prstGeom>
          <a:noFill/>
        </p:spPr>
        <p:txBody>
          <a:bodyPr wrap="square" lIns="0" tIns="0" rIns="0" bIns="0" anchor="t">
            <a:spAutoFit/>
          </a:bodyPr>
          <a:lstStyle/>
          <a:p>
            <a:pPr algn="l"/>
            <a:r>
              <a:rPr sz="1500" b="1" i="0">
                <a:solidFill>
                  <a:srgbClr val="1E7A4E"/>
                </a:solidFill>
                <a:latin typeface="Menlo"/>
              </a:rPr>
              <a:t>2.10 → 2.17 m/s</a:t>
            </a:r>
          </a:p>
        </p:txBody>
      </p:sp>
      <p:sp>
        <p:nvSpPr>
          <p:cNvPr id="11" name="TextBox 10"/>
          <p:cNvSpPr txBox="1"/>
          <p:nvPr/>
        </p:nvSpPr>
        <p:spPr>
          <a:xfrm>
            <a:off x="658368"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untouched across the path</a:t>
            </a:r>
          </a:p>
        </p:txBody>
      </p:sp>
      <p:cxnSp>
        <p:nvCxnSpPr>
          <p:cNvPr id="12" name="Connector 11"/>
          <p:cNvCxnSpPr/>
          <p:nvPr/>
        </p:nvCxnSpPr>
        <p:spPr>
          <a:xfrm>
            <a:off x="4283354"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29658"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AXIS, M = 2</a:t>
            </a:r>
          </a:p>
        </p:txBody>
      </p:sp>
      <p:sp>
        <p:nvSpPr>
          <p:cNvPr id="14" name="TextBox 13"/>
          <p:cNvSpPr txBox="1"/>
          <p:nvPr/>
        </p:nvSpPr>
        <p:spPr>
          <a:xfrm>
            <a:off x="4429658" y="5897880"/>
            <a:ext cx="3350666" cy="274320"/>
          </a:xfrm>
          <a:prstGeom prst="rect">
            <a:avLst/>
          </a:prstGeom>
          <a:noFill/>
        </p:spPr>
        <p:txBody>
          <a:bodyPr wrap="square" lIns="0" tIns="0" rIns="0" bIns="0" anchor="t">
            <a:spAutoFit/>
          </a:bodyPr>
          <a:lstStyle/>
          <a:p>
            <a:pPr algn="l"/>
            <a:r>
              <a:rPr sz="1500" b="1" i="0">
                <a:solidFill>
                  <a:srgbClr val="1E7A4E"/>
                </a:solidFill>
                <a:latin typeface="Menlo"/>
              </a:rPr>
              <a:t>5.9° error</a:t>
            </a:r>
          </a:p>
        </p:txBody>
      </p:sp>
      <p:sp>
        <p:nvSpPr>
          <p:cNvPr id="15" name="TextBox 14"/>
          <p:cNvSpPr txBox="1"/>
          <p:nvPr/>
        </p:nvSpPr>
        <p:spPr>
          <a:xfrm>
            <a:off x="4429658"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intact — chance is 45°</a:t>
            </a:r>
          </a:p>
        </p:txBody>
      </p:sp>
      <p:cxnSp>
        <p:nvCxnSpPr>
          <p:cNvPr id="16" name="Connector 15"/>
          <p:cNvCxnSpPr/>
          <p:nvPr/>
        </p:nvCxnSpPr>
        <p:spPr>
          <a:xfrm>
            <a:off x="7908340"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54644"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DIRECTION, M = 1</a:t>
            </a:r>
          </a:p>
        </p:txBody>
      </p:sp>
      <p:sp>
        <p:nvSpPr>
          <p:cNvPr id="18" name="TextBox 17"/>
          <p:cNvSpPr txBox="1"/>
          <p:nvPr/>
        </p:nvSpPr>
        <p:spPr>
          <a:xfrm>
            <a:off x="8054644" y="5897880"/>
            <a:ext cx="3350666" cy="274320"/>
          </a:xfrm>
          <a:prstGeom prst="rect">
            <a:avLst/>
          </a:prstGeom>
          <a:noFill/>
        </p:spPr>
        <p:txBody>
          <a:bodyPr wrap="square" lIns="0" tIns="0" rIns="0" bIns="0" anchor="t">
            <a:spAutoFit/>
          </a:bodyPr>
          <a:lstStyle/>
          <a:p>
            <a:pPr algn="l"/>
            <a:r>
              <a:rPr sz="1500" b="1" i="0">
                <a:solidFill>
                  <a:srgbClr val="B03A2E"/>
                </a:solidFill>
                <a:latin typeface="Menlo"/>
              </a:rPr>
              <a:t>certainty 0.18</a:t>
            </a:r>
          </a:p>
        </p:txBody>
      </p:sp>
      <p:sp>
        <p:nvSpPr>
          <p:cNvPr id="19" name="TextBox 18"/>
          <p:cNvSpPr txBox="1"/>
          <p:nvPr/>
        </p:nvSpPr>
        <p:spPr>
          <a:xfrm>
            <a:off x="8054644"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annihilated — chance is 0</a:t>
            </a:r>
          </a:p>
        </p:txBody>
      </p:sp>
      <p:sp>
        <p:nvSpPr>
          <p:cNvPr id="20" name="TextBox 19"/>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1" name="TextBox 20"/>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3 — MECHANISM AND FIX</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F14</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Attention rotates the edit out</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Reading the residual stream at half-block resolution, with probes fitted per position on unmodified activations. The question is why the network undoes a Euclidean edit.</a:t>
            </a:r>
          </a:p>
        </p:txBody>
      </p:sp>
      <p:pic>
        <p:nvPicPr>
          <p:cNvPr id="7" name="Picture 6" descr="d8_rotation.png"/>
          <p:cNvPicPr>
            <a:picLocks noChangeAspect="1"/>
          </p:cNvPicPr>
          <p:nvPr/>
        </p:nvPicPr>
        <p:blipFill>
          <a:blip r:embed="rId3"/>
          <a:stretch>
            <a:fillRect/>
          </a:stretch>
        </p:blipFill>
        <p:spPr>
          <a:xfrm>
            <a:off x="2291709" y="2633472"/>
            <a:ext cx="7608276"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LAYERNORM RESCALING</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i="0">
                <a:solidFill>
                  <a:srgbClr val="17191C"/>
                </a:solidFill>
                <a:latin typeface="Menlo"/>
              </a:rPr>
              <a:t>ruled out</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norm ratio 1.00 ± 0.005</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PERTURBATION MAGNITUDE</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i="0">
                <a:solidFill>
                  <a:srgbClr val="0B4F6C"/>
                </a:solidFill>
                <a:latin typeface="Menlo"/>
              </a:rPr>
              <a:t>69% kept</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it is not erased</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READOUT-ALIGNED PART</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32% kept</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decays 2.2× faster</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ATTENTION SHARE</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77%</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of the total decay</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3 — MECHANISM AND FIX</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F15  ·  F10</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The on-manifold edit survives 3× better</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Both methods steered to the same held-out targets, injected at layer 16, propagated through the same blocks, scored by alignment with the intended readout.</a:t>
            </a:r>
          </a:p>
        </p:txBody>
      </p:sp>
      <p:pic>
        <p:nvPicPr>
          <p:cNvPr id="7" name="Picture 6" descr="d9_retention.png"/>
          <p:cNvPicPr>
            <a:picLocks noChangeAspect="1"/>
          </p:cNvPicPr>
          <p:nvPr/>
        </p:nvPicPr>
        <p:blipFill>
          <a:blip r:embed="rId3"/>
          <a:stretch>
            <a:fillRect/>
          </a:stretch>
        </p:blipFill>
        <p:spPr>
          <a:xfrm>
            <a:off x="2349347" y="2633472"/>
            <a:ext cx="7493000"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MULTI-PROBE</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25% retained</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alignment +1.33 → +0.33</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MANIFOLD SPLINE</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76% retained</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alignment +1.03 → +0.78</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IN FEATURE SPACE</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i="0">
                <a:solidFill>
                  <a:srgbClr val="0B4F6C"/>
                </a:solidFill>
                <a:latin typeface="Menlo"/>
              </a:rPr>
              <a:t>multi-probe wins</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5.32° vs 7.02°</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FOUR BLOCKS LATER</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manifold wins</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the ordering flips</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ACT 3 — MECHANISM AND FIX</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F17</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Or fight the rotation at every layer</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The move from LLM interpretability: rather than asking one edit to survive, assert the feature again at every block. Anthropic clamp an SAE feature's activation during the forward pass to steer Claude 3 Sonnet (Templeton et al., Scaling Monosemanticity, 2024). Same idea, applied across blocks 16–19.</a:t>
            </a:r>
          </a:p>
        </p:txBody>
      </p:sp>
      <p:pic>
        <p:nvPicPr>
          <p:cNvPr id="7" name="Picture 6" descr="clamping.png"/>
          <p:cNvPicPr>
            <a:picLocks noChangeAspect="1"/>
          </p:cNvPicPr>
          <p:nvPr/>
        </p:nvPicPr>
        <p:blipFill>
          <a:blip r:embed="rId3"/>
          <a:stretch>
            <a:fillRect/>
          </a:stretch>
        </p:blipFill>
        <p:spPr>
          <a:xfrm>
            <a:off x="2225550" y="2633472"/>
            <a:ext cx="7740594"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CLAMPING WORKS</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+0.36 → +0.79</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at four blocks — more than doubles</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RE-INJECTING IS NOT CLAMPING</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+1.30</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over-driven, at 4× the cost</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CLAMP K=16</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i="0">
                <a:solidFill>
                  <a:srgbClr val="0B4F6C"/>
                </a:solidFill>
                <a:latin typeface="Menlo"/>
              </a:rPr>
              <a:t>4 interventions</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Σ‖Δ‖ = 20.2</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ONE SPLINE EDIT</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1 intervention</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Σ‖Δ‖ = 22.1, and +0.88</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VERDICT</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F8  ·  F12  ·  F15</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Geometry is not descriptive. It is the control surface.</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Both methods work. Which one you want depends on the shape of the variable — and on whether anything downstream has to read the result.</a:t>
            </a:r>
          </a:p>
        </p:txBody>
      </p:sp>
      <p:graphicFrame>
        <p:nvGraphicFramePr>
          <p:cNvPr id="7" name="Table 6"/>
          <p:cNvGraphicFramePr>
            <a:graphicFrameLocks noGrp="1"/>
          </p:cNvGraphicFramePr>
          <p:nvPr/>
        </p:nvGraphicFramePr>
        <p:xfrm>
          <a:off x="658368" y="2560320"/>
          <a:ext cx="10874958" cy="2743195"/>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4020159">
                  <a:extLst>
                    <a:ext uri="{9D8B030D-6E8A-4147-A177-3AD203B41FA5}">
                      <a16:colId xmlns:a16="http://schemas.microsoft.com/office/drawing/2014/main" val="20001"/>
                    </a:ext>
                  </a:extLst>
                </a:gridCol>
                <a:gridCol w="4020159">
                  <a:extLst>
                    <a:ext uri="{9D8B030D-6E8A-4147-A177-3AD203B41FA5}">
                      <a16:colId xmlns:a16="http://schemas.microsoft.com/office/drawing/2014/main" val="20002"/>
                    </a:ext>
                  </a:extLst>
                </a:gridCol>
              </a:tblGrid>
              <a:tr h="391885">
                <a:tc>
                  <a:txBody>
                    <a:bodyPr/>
                    <a:lstStyle/>
                    <a:p>
                      <a:endParaRPr/>
                    </a:p>
                  </a:txBody>
                  <a:tcPr marL="128016" marT="54864" marB="54864" anchor="ctr">
                    <a:solidFill>
                      <a:srgbClr val="FFFFFF"/>
                    </a:solidFill>
                  </a:tcPr>
                </a:tc>
                <a:tc>
                  <a:txBody>
                    <a:bodyPr/>
                    <a:lstStyle/>
                    <a:p>
                      <a:r>
                        <a:rPr sz="850" b="0" i="0" spc="120">
                          <a:solidFill>
                            <a:srgbClr val="71757B"/>
                          </a:solidFill>
                          <a:latin typeface="Menlo"/>
                        </a:rPr>
                        <a:t>MULTI-PROBE SUBSPACE</a:t>
                      </a:r>
                    </a:p>
                  </a:txBody>
                  <a:tcPr marL="128016" marT="54864" marB="54864" anchor="ctr">
                    <a:solidFill>
                      <a:srgbClr val="FFFFFF"/>
                    </a:solidFill>
                  </a:tcPr>
                </a:tc>
                <a:tc>
                  <a:txBody>
                    <a:bodyPr/>
                    <a:lstStyle/>
                    <a:p>
                      <a:r>
                        <a:rPr sz="850" b="0" i="0" spc="120">
                          <a:solidFill>
                            <a:srgbClr val="71757B"/>
                          </a:solidFill>
                          <a:latin typeface="Menlo"/>
                        </a:rPr>
                        <a:t>SPLINE / MANIFOLD</a:t>
                      </a:r>
                    </a:p>
                  </a:txBody>
                  <a:tcPr marL="128016" marT="54864" marB="54864" anchor="ctr">
                    <a:solidFill>
                      <a:srgbClr val="FFFFFF"/>
                    </a:solidFill>
                  </a:tcPr>
                </a:tc>
                <a:extLst>
                  <a:ext uri="{0D108BD9-81ED-4DB2-BD59-A6C34878D82A}">
                    <a16:rowId xmlns:a16="http://schemas.microsoft.com/office/drawing/2014/main" val="10000"/>
                  </a:ext>
                </a:extLst>
              </a:tr>
              <a:tr h="391885">
                <a:tc>
                  <a:txBody>
                    <a:bodyPr/>
                    <a:lstStyle/>
                    <a:p>
                      <a:r>
                        <a:rPr sz="1050" b="1" i="0">
                          <a:solidFill>
                            <a:srgbClr val="17191C"/>
                          </a:solidFill>
                          <a:latin typeface="Avenir Next"/>
                        </a:rPr>
                        <a:t>endpoint accuracy</a:t>
                      </a:r>
                    </a:p>
                  </a:txBody>
                  <a:tcPr marL="128016" marT="54864" marB="54864" anchor="ctr">
                    <a:solidFill>
                      <a:srgbClr val="FFFFFF"/>
                    </a:solidFill>
                  </a:tcPr>
                </a:tc>
                <a:tc>
                  <a:txBody>
                    <a:bodyPr/>
                    <a:lstStyle/>
                    <a:p>
                      <a:r>
                        <a:rPr sz="1050" b="0" i="0">
                          <a:solidFill>
                            <a:srgbClr val="1E7A4E"/>
                          </a:solidFill>
                          <a:latin typeface="Avenir Next"/>
                        </a:rPr>
                        <a:t>better — 5.32°</a:t>
                      </a:r>
                    </a:p>
                  </a:txBody>
                  <a:tcPr marL="128016" marT="54864" marB="54864" anchor="ctr">
                    <a:solidFill>
                      <a:srgbClr val="FFFFFF"/>
                    </a:solidFill>
                  </a:tcPr>
                </a:tc>
                <a:tc>
                  <a:txBody>
                    <a:bodyPr/>
                    <a:lstStyle/>
                    <a:p>
                      <a:r>
                        <a:rPr sz="1050" b="0" i="0">
                          <a:solidFill>
                            <a:srgbClr val="71757B"/>
                          </a:solidFill>
                          <a:latin typeface="Avenir Next"/>
                        </a:rPr>
                        <a:t>7.02°</a:t>
                      </a:r>
                    </a:p>
                  </a:txBody>
                  <a:tcPr marL="128016" marT="54864" marB="54864" anchor="ctr">
                    <a:solidFill>
                      <a:srgbClr val="FFFFFF"/>
                    </a:solidFill>
                  </a:tcPr>
                </a:tc>
                <a:extLst>
                  <a:ext uri="{0D108BD9-81ED-4DB2-BD59-A6C34878D82A}">
                    <a16:rowId xmlns:a16="http://schemas.microsoft.com/office/drawing/2014/main" val="10001"/>
                  </a:ext>
                </a:extLst>
              </a:tr>
              <a:tr h="391885">
                <a:tc>
                  <a:txBody>
                    <a:bodyPr/>
                    <a:lstStyle/>
                    <a:p>
                      <a:r>
                        <a:rPr sz="1050" b="1" i="0">
                          <a:solidFill>
                            <a:srgbClr val="17191C"/>
                          </a:solidFill>
                          <a:latin typeface="Avenir Next"/>
                        </a:rPr>
                        <a:t>survives propagation</a:t>
                      </a:r>
                    </a:p>
                  </a:txBody>
                  <a:tcPr marL="128016" marT="54864" marB="54864" anchor="ctr">
                    <a:solidFill>
                      <a:srgbClr val="FFFFFF"/>
                    </a:solidFill>
                  </a:tcPr>
                </a:tc>
                <a:tc>
                  <a:txBody>
                    <a:bodyPr/>
                    <a:lstStyle/>
                    <a:p>
                      <a:r>
                        <a:rPr sz="1050" b="0" i="0">
                          <a:solidFill>
                            <a:srgbClr val="B03A2E"/>
                          </a:solidFill>
                          <a:latin typeface="Avenir Next"/>
                        </a:rPr>
                        <a:t>25% at four blocks</a:t>
                      </a:r>
                    </a:p>
                  </a:txBody>
                  <a:tcPr marL="128016" marT="54864" marB="54864" anchor="ctr">
                    <a:solidFill>
                      <a:srgbClr val="FFFFFF"/>
                    </a:solidFill>
                  </a:tcPr>
                </a:tc>
                <a:tc>
                  <a:txBody>
                    <a:bodyPr/>
                    <a:lstStyle/>
                    <a:p>
                      <a:r>
                        <a:rPr sz="1050" b="0" i="0">
                          <a:solidFill>
                            <a:srgbClr val="1E7A4E"/>
                          </a:solidFill>
                          <a:latin typeface="Avenir Next"/>
                        </a:rPr>
                        <a:t>76%</a:t>
                      </a:r>
                    </a:p>
                  </a:txBody>
                  <a:tcPr marL="128016" marT="54864" marB="54864" anchor="ctr">
                    <a:solidFill>
                      <a:srgbClr val="FFFFFF"/>
                    </a:solidFill>
                  </a:tcPr>
                </a:tc>
                <a:extLst>
                  <a:ext uri="{0D108BD9-81ED-4DB2-BD59-A6C34878D82A}">
                    <a16:rowId xmlns:a16="http://schemas.microsoft.com/office/drawing/2014/main" val="10002"/>
                  </a:ext>
                </a:extLst>
              </a:tr>
              <a:tr h="391885">
                <a:tc>
                  <a:txBody>
                    <a:bodyPr/>
                    <a:lstStyle/>
                    <a:p>
                      <a:r>
                        <a:rPr sz="1050" b="1" i="0">
                          <a:solidFill>
                            <a:srgbClr val="17191C"/>
                          </a:solidFill>
                          <a:latin typeface="Avenir Next"/>
                        </a:rPr>
                        <a:t>intermediate states</a:t>
                      </a:r>
                    </a:p>
                  </a:txBody>
                  <a:tcPr marL="128016" marT="54864" marB="54864" anchor="ctr">
                    <a:solidFill>
                      <a:srgbClr val="FFFFFF"/>
                    </a:solidFill>
                  </a:tcPr>
                </a:tc>
                <a:tc>
                  <a:txBody>
                    <a:bodyPr/>
                    <a:lstStyle/>
                    <a:p>
                      <a:r>
                        <a:rPr sz="1050" b="0" i="0">
                          <a:solidFill>
                            <a:srgbClr val="B03A2E"/>
                          </a:solidFill>
                          <a:latin typeface="Avenir Next"/>
                        </a:rPr>
                        <a:t>collapse on closed geometry</a:t>
                      </a:r>
                    </a:p>
                  </a:txBody>
                  <a:tcPr marL="128016" marT="54864" marB="54864" anchor="ctr">
                    <a:solidFill>
                      <a:srgbClr val="FFFFFF"/>
                    </a:solidFill>
                  </a:tcPr>
                </a:tc>
                <a:tc>
                  <a:txBody>
                    <a:bodyPr/>
                    <a:lstStyle/>
                    <a:p>
                      <a:r>
                        <a:rPr sz="1050" b="0" i="0">
                          <a:solidFill>
                            <a:srgbClr val="1E7A4E"/>
                          </a:solidFill>
                          <a:latin typeface="Avenir Next"/>
                        </a:rPr>
                        <a:t>stay valid</a:t>
                      </a:r>
                    </a:p>
                  </a:txBody>
                  <a:tcPr marL="128016" marT="54864" marB="54864" anchor="ctr">
                    <a:solidFill>
                      <a:srgbClr val="FFFFFF"/>
                    </a:solidFill>
                  </a:tcPr>
                </a:tc>
                <a:extLst>
                  <a:ext uri="{0D108BD9-81ED-4DB2-BD59-A6C34878D82A}">
                    <a16:rowId xmlns:a16="http://schemas.microsoft.com/office/drawing/2014/main" val="10003"/>
                  </a:ext>
                </a:extLst>
              </a:tr>
              <a:tr h="391885">
                <a:tc>
                  <a:txBody>
                    <a:bodyPr/>
                    <a:lstStyle/>
                    <a:p>
                      <a:r>
                        <a:rPr sz="1050" b="1" i="0">
                          <a:solidFill>
                            <a:srgbClr val="17191C"/>
                          </a:solidFill>
                          <a:latin typeface="Avenir Next"/>
                        </a:rPr>
                        <a:t>what it needs</a:t>
                      </a:r>
                    </a:p>
                  </a:txBody>
                  <a:tcPr marL="128016" marT="54864" marB="54864" anchor="ctr">
                    <a:solidFill>
                      <a:srgbClr val="FFFFFF"/>
                    </a:solidFill>
                  </a:tcPr>
                </a:tc>
                <a:tc>
                  <a:txBody>
                    <a:bodyPr/>
                    <a:lstStyle/>
                    <a:p>
                      <a:r>
                        <a:rPr sz="1050" b="0" i="0">
                          <a:solidFill>
                            <a:srgbClr val="71757B"/>
                          </a:solidFill>
                          <a:latin typeface="Avenir Next"/>
                        </a:rPr>
                        <a:t>K fitted probes</a:t>
                      </a:r>
                    </a:p>
                  </a:txBody>
                  <a:tcPr marL="128016" marT="54864" marB="54864" anchor="ctr">
                    <a:solidFill>
                      <a:srgbClr val="FFFFFF"/>
                    </a:solidFill>
                  </a:tcPr>
                </a:tc>
                <a:tc>
                  <a:txBody>
                    <a:bodyPr/>
                    <a:lstStyle/>
                    <a:p>
                      <a:r>
                        <a:rPr sz="1050" b="0" i="0">
                          <a:solidFill>
                            <a:srgbClr val="71757B"/>
                          </a:solidFill>
                          <a:latin typeface="Avenir Next"/>
                        </a:rPr>
                        <a:t>per-value centroids only</a:t>
                      </a:r>
                    </a:p>
                  </a:txBody>
                  <a:tcPr marL="128016" marT="54864" marB="54864" anchor="ctr">
                    <a:solidFill>
                      <a:srgbClr val="FFFFFF"/>
                    </a:solidFill>
                  </a:tcPr>
                </a:tc>
                <a:extLst>
                  <a:ext uri="{0D108BD9-81ED-4DB2-BD59-A6C34878D82A}">
                    <a16:rowId xmlns:a16="http://schemas.microsoft.com/office/drawing/2014/main" val="10004"/>
                  </a:ext>
                </a:extLst>
              </a:tr>
              <a:tr h="391885">
                <a:tc>
                  <a:txBody>
                    <a:bodyPr/>
                    <a:lstStyle/>
                    <a:p>
                      <a:r>
                        <a:rPr sz="1050" b="1" i="0">
                          <a:solidFill>
                            <a:srgbClr val="17191C"/>
                          </a:solidFill>
                          <a:latin typeface="Avenir Next"/>
                        </a:rPr>
                        <a:t>best for</a:t>
                      </a:r>
                    </a:p>
                  </a:txBody>
                  <a:tcPr marL="128016" marT="54864" marB="54864" anchor="ctr">
                    <a:solidFill>
                      <a:srgbClr val="FFFFFF"/>
                    </a:solidFill>
                  </a:tcPr>
                </a:tc>
                <a:tc>
                  <a:txBody>
                    <a:bodyPr/>
                    <a:lstStyle/>
                    <a:p>
                      <a:r>
                        <a:rPr sz="1050" b="0" i="0">
                          <a:solidFill>
                            <a:srgbClr val="71757B"/>
                          </a:solidFill>
                          <a:latin typeface="Avenir Next"/>
                        </a:rPr>
                        <a:t>monotone scalars</a:t>
                      </a:r>
                    </a:p>
                  </a:txBody>
                  <a:tcPr marL="128016" marT="54864" marB="54864" anchor="ctr">
                    <a:solidFill>
                      <a:srgbClr val="FFFFFF"/>
                    </a:solidFill>
                  </a:tcPr>
                </a:tc>
                <a:tc>
                  <a:txBody>
                    <a:bodyPr/>
                    <a:lstStyle/>
                    <a:p>
                      <a:r>
                        <a:rPr sz="1050" b="0" i="0">
                          <a:solidFill>
                            <a:srgbClr val="71757B"/>
                          </a:solidFill>
                          <a:latin typeface="Avenir Next"/>
                        </a:rPr>
                        <a:t>cyclic variables</a:t>
                      </a:r>
                    </a:p>
                  </a:txBody>
                  <a:tcPr marL="128016" marT="54864" marB="54864" anchor="ctr">
                    <a:solidFill>
                      <a:srgbClr val="FFFFFF"/>
                    </a:solidFill>
                  </a:tcPr>
                </a:tc>
                <a:extLst>
                  <a:ext uri="{0D108BD9-81ED-4DB2-BD59-A6C34878D82A}">
                    <a16:rowId xmlns:a16="http://schemas.microsoft.com/office/drawing/2014/main" val="10005"/>
                  </a:ext>
                </a:extLst>
              </a:tr>
              <a:tr h="391885">
                <a:tc>
                  <a:txBody>
                    <a:bodyPr/>
                    <a:lstStyle/>
                    <a:p>
                      <a:r>
                        <a:rPr sz="1050" b="1" i="0">
                          <a:solidFill>
                            <a:srgbClr val="17191C"/>
                          </a:solidFill>
                          <a:latin typeface="Avenir Next"/>
                        </a:rPr>
                        <a:t>main failure</a:t>
                      </a:r>
                    </a:p>
                  </a:txBody>
                  <a:tcPr marL="128016" marT="54864" marB="54864" anchor="ctr">
                    <a:solidFill>
                      <a:srgbClr val="FFFFFF"/>
                    </a:solidFill>
                  </a:tcPr>
                </a:tc>
                <a:tc>
                  <a:txBody>
                    <a:bodyPr/>
                    <a:lstStyle/>
                    <a:p>
                      <a:r>
                        <a:rPr sz="1050" b="0" i="0">
                          <a:solidFill>
                            <a:srgbClr val="B03A2E"/>
                          </a:solidFill>
                          <a:latin typeface="Avenir Next"/>
                        </a:rPr>
                        <a:t>minimises the wrong norm</a:t>
                      </a:r>
                    </a:p>
                  </a:txBody>
                  <a:tcPr marL="128016" marT="54864" marB="54864" anchor="ctr">
                    <a:solidFill>
                      <a:srgbClr val="FFFFFF"/>
                    </a:solidFill>
                  </a:tcPr>
                </a:tc>
                <a:tc>
                  <a:txBody>
                    <a:bodyPr/>
                    <a:lstStyle/>
                    <a:p>
                      <a:r>
                        <a:rPr sz="1050" b="0" i="0">
                          <a:solidFill>
                            <a:srgbClr val="71757B"/>
                          </a:solidFill>
                          <a:latin typeface="Avenir Next"/>
                        </a:rPr>
                        <a:t>undershoots the target</a:t>
                      </a:r>
                    </a:p>
                  </a:txBody>
                  <a:tcPr marL="128016" marT="54864" marB="54864" anchor="ctr">
                    <a:solidFill>
                      <a:srgbClr val="FFFFFF"/>
                    </a:solidFill>
                  </a:tcPr>
                </a:tc>
                <a:extLst>
                  <a:ext uri="{0D108BD9-81ED-4DB2-BD59-A6C34878D82A}">
                    <a16:rowId xmlns:a16="http://schemas.microsoft.com/office/drawing/2014/main" val="10006"/>
                  </a:ext>
                </a:extLst>
              </a:tr>
            </a:tbl>
          </a:graphicData>
        </a:graphic>
      </p:graphicFrame>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THE OBJECTIVE SOLVED</a:t>
            </a:r>
          </a:p>
        </p:txBody>
      </p:sp>
      <p:sp>
        <p:nvSpPr>
          <p:cNvPr id="10" name="TextBox 9"/>
          <p:cNvSpPr txBox="1"/>
          <p:nvPr/>
        </p:nvSpPr>
        <p:spPr>
          <a:xfrm>
            <a:off x="658368" y="5897880"/>
            <a:ext cx="3350666" cy="274320"/>
          </a:xfrm>
          <a:prstGeom prst="rect">
            <a:avLst/>
          </a:prstGeom>
          <a:noFill/>
        </p:spPr>
        <p:txBody>
          <a:bodyPr wrap="square" lIns="0" tIns="0" rIns="0" bIns="0" anchor="t">
            <a:spAutoFit/>
          </a:bodyPr>
          <a:lstStyle/>
          <a:p>
            <a:pPr algn="l"/>
            <a:r>
              <a:rPr sz="1500" b="1" i="0">
                <a:solidFill>
                  <a:srgbClr val="0B4F6C"/>
                </a:solidFill>
                <a:latin typeface="Menlo"/>
              </a:rPr>
              <a:t>min ‖Δx‖₂</a:t>
            </a:r>
          </a:p>
        </p:txBody>
      </p:sp>
      <p:sp>
        <p:nvSpPr>
          <p:cNvPr id="11" name="TextBox 10"/>
          <p:cNvSpPr txBox="1"/>
          <p:nvPr/>
        </p:nvSpPr>
        <p:spPr>
          <a:xfrm>
            <a:off x="658368"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s.t. W(x+Δx) + b = y</a:t>
            </a:r>
          </a:p>
        </p:txBody>
      </p:sp>
      <p:cxnSp>
        <p:nvCxnSpPr>
          <p:cNvPr id="12" name="Connector 11"/>
          <p:cNvCxnSpPr/>
          <p:nvPr/>
        </p:nvCxnSpPr>
        <p:spPr>
          <a:xfrm>
            <a:off x="4283354"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29658"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WHICH GIVES</a:t>
            </a:r>
          </a:p>
        </p:txBody>
      </p:sp>
      <p:sp>
        <p:nvSpPr>
          <p:cNvPr id="14" name="TextBox 13"/>
          <p:cNvSpPr txBox="1"/>
          <p:nvPr/>
        </p:nvSpPr>
        <p:spPr>
          <a:xfrm>
            <a:off x="4429658" y="5897880"/>
            <a:ext cx="3350666" cy="274320"/>
          </a:xfrm>
          <a:prstGeom prst="rect">
            <a:avLst/>
          </a:prstGeom>
          <a:noFill/>
        </p:spPr>
        <p:txBody>
          <a:bodyPr wrap="square" lIns="0" tIns="0" rIns="0" bIns="0" anchor="t">
            <a:spAutoFit/>
          </a:bodyPr>
          <a:lstStyle/>
          <a:p>
            <a:pPr algn="l"/>
            <a:r>
              <a:rPr sz="1500" b="1" i="0">
                <a:solidFill>
                  <a:srgbClr val="17191C"/>
                </a:solidFill>
                <a:latin typeface="Menlo"/>
              </a:rPr>
              <a:t>Δx = W⁺r</a:t>
            </a:r>
          </a:p>
        </p:txBody>
      </p:sp>
      <p:sp>
        <p:nvSpPr>
          <p:cNvPr id="15" name="TextBox 14"/>
          <p:cNvSpPr txBox="1"/>
          <p:nvPr/>
        </p:nvSpPr>
        <p:spPr>
          <a:xfrm>
            <a:off x="4429658"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verified to 3e−14</a:t>
            </a:r>
          </a:p>
        </p:txBody>
      </p:sp>
      <p:cxnSp>
        <p:nvCxnSpPr>
          <p:cNvPr id="16" name="Connector 15"/>
          <p:cNvCxnSpPr/>
          <p:nvPr/>
        </p:nvCxnSpPr>
        <p:spPr>
          <a:xfrm>
            <a:off x="7908340"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54644" y="5678424"/>
            <a:ext cx="3350666" cy="201168"/>
          </a:xfrm>
          <a:prstGeom prst="rect">
            <a:avLst/>
          </a:prstGeom>
          <a:noFill/>
        </p:spPr>
        <p:txBody>
          <a:bodyPr wrap="square" lIns="0" tIns="0" rIns="0" bIns="0" anchor="t">
            <a:spAutoFit/>
          </a:bodyPr>
          <a:lstStyle/>
          <a:p>
            <a:pPr algn="l"/>
            <a:r>
              <a:rPr sz="800" b="0" i="0" spc="120">
                <a:solidFill>
                  <a:srgbClr val="71757B"/>
                </a:solidFill>
                <a:latin typeface="Menlo"/>
              </a:rPr>
              <a:t>AND THAT IS THE BUG</a:t>
            </a:r>
          </a:p>
        </p:txBody>
      </p:sp>
      <p:sp>
        <p:nvSpPr>
          <p:cNvPr id="18" name="TextBox 17"/>
          <p:cNvSpPr txBox="1"/>
          <p:nvPr/>
        </p:nvSpPr>
        <p:spPr>
          <a:xfrm>
            <a:off x="8054644" y="5897880"/>
            <a:ext cx="3350666" cy="274320"/>
          </a:xfrm>
          <a:prstGeom prst="rect">
            <a:avLst/>
          </a:prstGeom>
          <a:noFill/>
        </p:spPr>
        <p:txBody>
          <a:bodyPr wrap="square" lIns="0" tIns="0" rIns="0" bIns="0" anchor="t">
            <a:spAutoFit/>
          </a:bodyPr>
          <a:lstStyle/>
          <a:p>
            <a:pPr algn="l"/>
            <a:r>
              <a:rPr sz="1500" b="1" i="0">
                <a:solidFill>
                  <a:srgbClr val="B03A2E"/>
                </a:solidFill>
                <a:latin typeface="Menlo"/>
              </a:rPr>
              <a:t>wrong norm</a:t>
            </a:r>
          </a:p>
        </p:txBody>
      </p:sp>
      <p:sp>
        <p:nvSpPr>
          <p:cNvPr id="19" name="TextBox 18"/>
          <p:cNvSpPr txBox="1"/>
          <p:nvPr/>
        </p:nvSpPr>
        <p:spPr>
          <a:xfrm>
            <a:off x="8054644" y="6190488"/>
            <a:ext cx="3350666" cy="237744"/>
          </a:xfrm>
          <a:prstGeom prst="rect">
            <a:avLst/>
          </a:prstGeom>
          <a:noFill/>
        </p:spPr>
        <p:txBody>
          <a:bodyPr wrap="square" lIns="0" tIns="0" rIns="0" bIns="0" anchor="t">
            <a:spAutoFit/>
          </a:bodyPr>
          <a:lstStyle/>
          <a:p>
            <a:pPr algn="l"/>
            <a:r>
              <a:rPr sz="900" b="0" i="0">
                <a:solidFill>
                  <a:srgbClr val="71757B"/>
                </a:solidFill>
                <a:latin typeface="Avenir Next"/>
              </a:rPr>
              <a:t>Euclidean, not geodesic</a:t>
            </a:r>
          </a:p>
        </p:txBody>
      </p:sp>
      <p:sp>
        <p:nvSpPr>
          <p:cNvPr id="20" name="TextBox 19"/>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1" name="TextBox 20"/>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0B4F6C"/>
                </a:solidFill>
                <a:latin typeface="Menlo"/>
              </a:rPr>
              <a:t>BACKUP — ONLY IF ASKED</a:t>
            </a:r>
          </a:p>
        </p:txBody>
      </p:sp>
      <p:sp>
        <p:nvSpPr>
          <p:cNvPr id="3" name="TextBox 2"/>
          <p:cNvSpPr txBox="1"/>
          <p:nvPr/>
        </p:nvSpPr>
        <p:spPr>
          <a:xfrm>
            <a:off x="7875727" y="347472"/>
            <a:ext cx="3657600" cy="237744"/>
          </a:xfrm>
          <a:prstGeom prst="rect">
            <a:avLst/>
          </a:prstGeom>
          <a:noFill/>
        </p:spPr>
        <p:txBody>
          <a:bodyPr wrap="square" lIns="0" tIns="0" rIns="0" bIns="0" anchor="t">
            <a:spAutoFit/>
          </a:bodyPr>
          <a:lstStyle/>
          <a:p>
            <a:pPr algn="r"/>
            <a:r>
              <a:rPr sz="900" b="0" i="0" spc="100">
                <a:solidFill>
                  <a:srgbClr val="71757B"/>
                </a:solidFill>
                <a:latin typeface="Menlo"/>
              </a:rPr>
              <a:t>F16</a:t>
            </a:r>
          </a:p>
        </p:txBody>
      </p:sp>
      <p:cxnSp>
        <p:nvCxnSpPr>
          <p:cNvPr id="4" name="Connector 3"/>
          <p:cNvCxnSpPr/>
          <p:nvPr/>
        </p:nvCxnSpPr>
        <p:spPr>
          <a:xfrm>
            <a:off x="658368" y="658368"/>
            <a:ext cx="10874959" cy="0"/>
          </a:xfrm>
          <a:prstGeom prst="line">
            <a:avLst/>
          </a:prstGeom>
          <a:ln w="13970">
            <a:solidFill>
              <a:srgbClr val="0B4F6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822960"/>
            <a:ext cx="10051999" cy="960120"/>
          </a:xfrm>
          <a:prstGeom prst="rect">
            <a:avLst/>
          </a:prstGeom>
          <a:noFill/>
        </p:spPr>
        <p:txBody>
          <a:bodyPr wrap="square" lIns="0" tIns="0" rIns="0" bIns="0" anchor="t">
            <a:spAutoFit/>
          </a:bodyPr>
          <a:lstStyle/>
          <a:p>
            <a:pPr algn="l"/>
            <a:r>
              <a:rPr sz="3100" b="1" i="0">
                <a:solidFill>
                  <a:srgbClr val="17191C"/>
                </a:solidFill>
                <a:latin typeface="Futura"/>
              </a:rPr>
              <a:t>Is that state just within the margin of error?</a:t>
            </a:r>
          </a:p>
        </p:txBody>
      </p:sp>
      <p:sp>
        <p:nvSpPr>
          <p:cNvPr id="6" name="TextBox 5"/>
          <p:cNvSpPr txBox="1"/>
          <p:nvPr/>
        </p:nvSpPr>
        <p:spPr>
          <a:xfrm>
            <a:off x="658368" y="1847088"/>
            <a:ext cx="8503920" cy="640080"/>
          </a:xfrm>
          <a:prstGeom prst="rect">
            <a:avLst/>
          </a:prstGeom>
          <a:noFill/>
        </p:spPr>
        <p:txBody>
          <a:bodyPr wrap="square" lIns="0" tIns="0" rIns="0" bIns="0" anchor="t">
            <a:spAutoFit/>
          </a:bodyPr>
          <a:lstStyle/>
          <a:p>
            <a:pPr algn="l">
              <a:lnSpc>
                <a:spcPct val="128000"/>
              </a:lnSpc>
            </a:pPr>
            <a:r>
              <a:rPr sz="1200" b="0" i="0">
                <a:solidFill>
                  <a:srgbClr val="71757B"/>
                </a:solidFill>
                <a:latin typeface="Avenir Next"/>
              </a:rPr>
              <a:t>100 bootstrap resamples of the training clips, each refitting PCA, centroids and spline. Every curve is mapped back to activation space and re-projected into one reference basis before comparison — otherwise you measure PCA basis churn, not fit uncertainty.</a:t>
            </a:r>
          </a:p>
        </p:txBody>
      </p:sp>
      <p:pic>
        <p:nvPicPr>
          <p:cNvPr id="7" name="Picture 6" descr="bootstrap_tube.png"/>
          <p:cNvPicPr>
            <a:picLocks noChangeAspect="1"/>
          </p:cNvPicPr>
          <p:nvPr/>
        </p:nvPicPr>
        <p:blipFill>
          <a:blip r:embed="rId3"/>
          <a:stretch>
            <a:fillRect/>
          </a:stretch>
        </p:blipFill>
        <p:spPr>
          <a:xfrm>
            <a:off x="1551180" y="2633472"/>
            <a:ext cx="9089334" cy="2697480"/>
          </a:xfrm>
          <a:prstGeom prst="rect">
            <a:avLst/>
          </a:prstGeom>
        </p:spPr>
      </p:pic>
      <p:cxnSp>
        <p:nvCxnSpPr>
          <p:cNvPr id="8" name="Connector 7"/>
          <p:cNvCxnSpPr/>
          <p:nvPr/>
        </p:nvCxnSpPr>
        <p:spPr>
          <a:xfrm>
            <a:off x="658368" y="5532120"/>
            <a:ext cx="10874959" cy="0"/>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58368"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BOOTSTRAP TUBE</a:t>
            </a:r>
          </a:p>
        </p:txBody>
      </p:sp>
      <p:sp>
        <p:nvSpPr>
          <p:cNvPr id="10" name="TextBox 9"/>
          <p:cNvSpPr txBox="1"/>
          <p:nvPr/>
        </p:nvSpPr>
        <p:spPr>
          <a:xfrm>
            <a:off x="658368" y="5897880"/>
            <a:ext cx="2444419" cy="274320"/>
          </a:xfrm>
          <a:prstGeom prst="rect">
            <a:avLst/>
          </a:prstGeom>
          <a:noFill/>
        </p:spPr>
        <p:txBody>
          <a:bodyPr wrap="square" lIns="0" tIns="0" rIns="0" bIns="0" anchor="t">
            <a:spAutoFit/>
          </a:bodyPr>
          <a:lstStyle/>
          <a:p>
            <a:pPr algn="l"/>
            <a:r>
              <a:rPr sz="1500" b="1" i="0">
                <a:solidFill>
                  <a:srgbClr val="0B4F6C"/>
                </a:solidFill>
                <a:latin typeface="Menlo"/>
              </a:rPr>
              <a:t>2.4× outside</a:t>
            </a:r>
          </a:p>
        </p:txBody>
      </p:sp>
      <p:sp>
        <p:nvSpPr>
          <p:cNvPr id="11" name="TextBox 10"/>
          <p:cNvSpPr txBox="1"/>
          <p:nvPr/>
        </p:nvSpPr>
        <p:spPr>
          <a:xfrm>
            <a:off x="658368"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51% of the chord is out</a:t>
            </a:r>
          </a:p>
        </p:txBody>
      </p:sp>
      <p:cxnSp>
        <p:nvCxnSpPr>
          <p:cNvPr id="12" name="Connector 11"/>
          <p:cNvCxnSpPr/>
          <p:nvPr/>
        </p:nvCxnSpPr>
        <p:spPr>
          <a:xfrm>
            <a:off x="337710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2341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DISTANCE FROM CURVE</a:t>
            </a:r>
          </a:p>
        </p:txBody>
      </p:sp>
      <p:sp>
        <p:nvSpPr>
          <p:cNvPr id="14" name="TextBox 13"/>
          <p:cNvSpPr txBox="1"/>
          <p:nvPr/>
        </p:nvSpPr>
        <p:spPr>
          <a:xfrm>
            <a:off x="3523411" y="5897880"/>
            <a:ext cx="2444419" cy="274320"/>
          </a:xfrm>
          <a:prstGeom prst="rect">
            <a:avLst/>
          </a:prstGeom>
          <a:noFill/>
        </p:spPr>
        <p:txBody>
          <a:bodyPr wrap="square" lIns="0" tIns="0" rIns="0" bIns="0" anchor="t">
            <a:spAutoFit/>
          </a:bodyPr>
          <a:lstStyle/>
          <a:p>
            <a:pPr algn="l"/>
            <a:r>
              <a:rPr sz="1500" b="1" i="0">
                <a:solidFill>
                  <a:srgbClr val="B03A2E"/>
                </a:solidFill>
                <a:latin typeface="Menlo"/>
              </a:rPr>
              <a:t>13.0 vs 17.2</a:t>
            </a:r>
          </a:p>
        </p:txBody>
      </p:sp>
      <p:sp>
        <p:nvSpPr>
          <p:cNvPr id="15" name="TextBox 14"/>
          <p:cNvSpPr txBox="1"/>
          <p:nvPr/>
        </p:nvSpPr>
        <p:spPr>
          <a:xfrm>
            <a:off x="352341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THIS TEST FAILS — see notes</a:t>
            </a:r>
          </a:p>
        </p:txBody>
      </p:sp>
      <p:cxnSp>
        <p:nvCxnSpPr>
          <p:cNvPr id="16" name="Connector 15"/>
          <p:cNvCxnSpPr/>
          <p:nvPr/>
        </p:nvCxnSpPr>
        <p:spPr>
          <a:xfrm>
            <a:off x="609584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4215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CLIPS NEARER THE CENTRE</a:t>
            </a:r>
          </a:p>
        </p:txBody>
      </p:sp>
      <p:sp>
        <p:nvSpPr>
          <p:cNvPr id="18" name="TextBox 17"/>
          <p:cNvSpPr txBox="1"/>
          <p:nvPr/>
        </p:nvSpPr>
        <p:spPr>
          <a:xfrm>
            <a:off x="624215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0 of 1,148</a:t>
            </a:r>
          </a:p>
        </p:txBody>
      </p:sp>
      <p:sp>
        <p:nvSpPr>
          <p:cNvPr id="19" name="TextBox 18"/>
          <p:cNvSpPr txBox="1"/>
          <p:nvPr/>
        </p:nvSpPr>
        <p:spPr>
          <a:xfrm>
            <a:off x="624215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the decisive result</a:t>
            </a:r>
          </a:p>
        </p:txBody>
      </p:sp>
      <p:cxnSp>
        <p:nvCxnSpPr>
          <p:cNvPr id="20" name="Connector 19"/>
          <p:cNvCxnSpPr/>
          <p:nvPr/>
        </p:nvCxnSpPr>
        <p:spPr>
          <a:xfrm>
            <a:off x="8814587" y="5605272"/>
            <a:ext cx="0" cy="713232"/>
          </a:xfrm>
          <a:prstGeom prst="line">
            <a:avLst/>
          </a:prstGeom>
          <a:ln w="9525">
            <a:solidFill>
              <a:srgbClr val="DCDEE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960891" y="5678424"/>
            <a:ext cx="2444419" cy="201168"/>
          </a:xfrm>
          <a:prstGeom prst="rect">
            <a:avLst/>
          </a:prstGeom>
          <a:noFill/>
        </p:spPr>
        <p:txBody>
          <a:bodyPr wrap="square" lIns="0" tIns="0" rIns="0" bIns="0" anchor="t">
            <a:spAutoFit/>
          </a:bodyPr>
          <a:lstStyle/>
          <a:p>
            <a:pPr algn="l"/>
            <a:r>
              <a:rPr sz="800" b="0" i="0" spc="120">
                <a:solidFill>
                  <a:srgbClr val="71757B"/>
                </a:solidFill>
                <a:latin typeface="Menlo"/>
              </a:rPr>
              <a:t>Z-SCORE OF THAT RADIUS</a:t>
            </a:r>
          </a:p>
        </p:txBody>
      </p:sp>
      <p:sp>
        <p:nvSpPr>
          <p:cNvPr id="22" name="TextBox 21"/>
          <p:cNvSpPr txBox="1"/>
          <p:nvPr/>
        </p:nvSpPr>
        <p:spPr>
          <a:xfrm>
            <a:off x="8960891" y="5897880"/>
            <a:ext cx="2444419" cy="274320"/>
          </a:xfrm>
          <a:prstGeom prst="rect">
            <a:avLst/>
          </a:prstGeom>
          <a:noFill/>
        </p:spPr>
        <p:txBody>
          <a:bodyPr wrap="square" lIns="0" tIns="0" rIns="0" bIns="0" anchor="t">
            <a:spAutoFit/>
          </a:bodyPr>
          <a:lstStyle/>
          <a:p>
            <a:pPr algn="l"/>
            <a:r>
              <a:rPr sz="1500" b="1" i="0">
                <a:solidFill>
                  <a:srgbClr val="1E7A4E"/>
                </a:solidFill>
                <a:latin typeface="Menlo"/>
              </a:rPr>
              <a:t>−4.1</a:t>
            </a:r>
          </a:p>
        </p:txBody>
      </p:sp>
      <p:sp>
        <p:nvSpPr>
          <p:cNvPr id="23" name="TextBox 22"/>
          <p:cNvSpPr txBox="1"/>
          <p:nvPr/>
        </p:nvSpPr>
        <p:spPr>
          <a:xfrm>
            <a:off x="8960891" y="6190488"/>
            <a:ext cx="2444419" cy="237744"/>
          </a:xfrm>
          <a:prstGeom prst="rect">
            <a:avLst/>
          </a:prstGeom>
          <a:noFill/>
        </p:spPr>
        <p:txBody>
          <a:bodyPr wrap="square" lIns="0" tIns="0" rIns="0" bIns="0" anchor="t">
            <a:spAutoFit/>
          </a:bodyPr>
          <a:lstStyle/>
          <a:p>
            <a:pPr algn="l"/>
            <a:r>
              <a:rPr sz="900" b="0" i="0">
                <a:solidFill>
                  <a:srgbClr val="71757B"/>
                </a:solidFill>
                <a:latin typeface="Avenir Next"/>
              </a:rPr>
              <a:t>0.32× the closest clip</a:t>
            </a:r>
          </a:p>
        </p:txBody>
      </p:sp>
      <p:sp>
        <p:nvSpPr>
          <p:cNvPr id="24" name="TextBox 23"/>
          <p:cNvSpPr txBox="1"/>
          <p:nvPr/>
        </p:nvSpPr>
        <p:spPr>
          <a:xfrm>
            <a:off x="658368" y="6446520"/>
            <a:ext cx="7315200" cy="219456"/>
          </a:xfrm>
          <a:prstGeom prst="rect">
            <a:avLst/>
          </a:prstGeom>
          <a:noFill/>
        </p:spPr>
        <p:txBody>
          <a:bodyPr wrap="square" lIns="0" tIns="0" rIns="0" bIns="0" anchor="t">
            <a:spAutoFit/>
          </a:bodyPr>
          <a:lstStyle/>
          <a:p>
            <a:pPr algn="l"/>
            <a:r>
              <a:rPr sz="800" b="0" i="0" spc="80">
                <a:solidFill>
                  <a:srgbClr val="C9D6DC"/>
                </a:solidFill>
                <a:latin typeface="Menlo"/>
              </a:rPr>
              <a:t>V-JEPA 2 ViT-L/16-256  ·  frozen encoder  ·  4,572 clips</a:t>
            </a:r>
          </a:p>
        </p:txBody>
      </p:sp>
      <p:sp>
        <p:nvSpPr>
          <p:cNvPr id="25" name="TextBox 24"/>
          <p:cNvSpPr txBox="1"/>
          <p:nvPr/>
        </p:nvSpPr>
        <p:spPr>
          <a:xfrm>
            <a:off x="10253167" y="6355080"/>
            <a:ext cx="1280160" cy="384048"/>
          </a:xfrm>
          <a:prstGeom prst="rect">
            <a:avLst/>
          </a:prstGeom>
          <a:noFill/>
        </p:spPr>
        <p:txBody>
          <a:bodyPr wrap="square" lIns="0" tIns="0" rIns="0" bIns="0" anchor="t">
            <a:spAutoFit/>
          </a:bodyPr>
          <a:lstStyle/>
          <a:p>
            <a:pPr algn="r"/>
            <a:r>
              <a:rPr sz="2000" b="1" i="0">
                <a:solidFill>
                  <a:srgbClr val="C9D6DC"/>
                </a:solidFill>
                <a:latin typeface="Futura"/>
              </a:rPr>
              <a:t>12</a:t>
            </a:r>
          </a:p>
        </p:txBody>
      </p:sp>
      <p:sp>
        <p:nvSpPr>
          <p:cNvPr id="26" name="TextBox 25"/>
          <p:cNvSpPr txBox="1"/>
          <p:nvPr/>
        </p:nvSpPr>
        <p:spPr>
          <a:xfrm>
            <a:off x="658368" y="347472"/>
            <a:ext cx="7315200" cy="237744"/>
          </a:xfrm>
          <a:prstGeom prst="rect">
            <a:avLst/>
          </a:prstGeom>
          <a:noFill/>
        </p:spPr>
        <p:txBody>
          <a:bodyPr wrap="square" lIns="0" tIns="0" rIns="0" bIns="0" anchor="t">
            <a:spAutoFit/>
          </a:bodyPr>
          <a:lstStyle/>
          <a:p>
            <a:pPr algn="l"/>
            <a:r>
              <a:rPr sz="900" b="0" i="0" spc="140">
                <a:solidFill>
                  <a:srgbClr val="B03A2E"/>
                </a:solidFill>
                <a:latin typeface="Menlo"/>
              </a:rPr>
              <a:t>BACKUP — NOT PRESENTED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3677</Words>
  <Application>Microsoft Macintosh PowerPoint</Application>
  <PresentationFormat>Widescreen</PresentationFormat>
  <Paragraphs>311</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Avenir Next</vt:lpstr>
      <vt:lpstr>Calibri</vt:lpstr>
      <vt:lpstr>Futura</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Vishal Das</cp:lastModifiedBy>
  <cp:revision>2</cp:revision>
  <dcterms:created xsi:type="dcterms:W3CDTF">2013-01-27T09:14:16Z</dcterms:created>
  <dcterms:modified xsi:type="dcterms:W3CDTF">2026-09-21T20:29:41Z</dcterms:modified>
  <cp:category/>
</cp:coreProperties>
</file>